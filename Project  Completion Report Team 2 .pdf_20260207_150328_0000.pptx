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7772400" cy="10058400"/>
  <p:notesSz cx="6858000" cy="9144000"/>
  <p:embeddedFontLst>
    <p:embeddedFont>
      <p:font typeface="Arimo" charset="1" panose="020B0604020202020204"/>
      <p:regular r:id="rId17"/>
    </p:embeddedFont>
    <p:embeddedFont>
      <p:font typeface="IBM Plex Sans Condensed" charset="1" panose="020B0506050203000203"/>
      <p:regular r:id="rId18"/>
    </p:embeddedFont>
    <p:embeddedFont>
      <p:font typeface="Open Sans" charset="1" panose="020B0606030504020204"/>
      <p:regular r:id="rId19"/>
    </p:embeddedFont>
    <p:embeddedFont>
      <p:font typeface="Noto Sans Thai SemiCondensed Light" charset="1" panose="020B0402040504020204"/>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8.jpe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10.jpe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1431384" y="4628088"/>
          <a:ext cx="4663440" cy="1324142"/>
        </p:xfrm>
        <a:graphic>
          <a:graphicData uri="http://schemas.openxmlformats.org/drawingml/2006/table">
            <a:tbl>
              <a:tblPr/>
              <a:tblGrid>
                <a:gridCol w="2331720"/>
                <a:gridCol w="2331720"/>
              </a:tblGrid>
              <a:tr h="782956">
                <a:tc>
                  <a:txBody>
                    <a:bodyPr anchor="t" rtlCol="false"/>
                    <a:lstStyle/>
                    <a:p>
                      <a:pPr algn="ctr">
                        <a:lnSpc>
                          <a:spcPts val="1844"/>
                        </a:lnSpc>
                        <a:defRPr/>
                      </a:pPr>
                      <a:endParaRPr lang="en-US" sz="1100"/>
                    </a:p>
                  </a:txBody>
                  <a:tcPr marL="123825" marR="123825" marT="123825" marB="12382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1844"/>
                        </a:lnSpc>
                        <a:defRPr/>
                      </a:pPr>
                      <a:endParaRPr lang="en-US" sz="1100"/>
                    </a:p>
                  </a:txBody>
                  <a:tcPr marL="123825" marR="123825" marT="123825" marB="12382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541186">
                <a:tc>
                  <a:txBody>
                    <a:bodyPr anchor="t" rtlCol="false"/>
                    <a:lstStyle/>
                    <a:p>
                      <a:pPr algn="ctr">
                        <a:lnSpc>
                          <a:spcPts val="1844"/>
                        </a:lnSpc>
                        <a:defRPr/>
                      </a:pPr>
                      <a:endParaRPr lang="en-US" sz="1100"/>
                    </a:p>
                  </a:txBody>
                  <a:tcPr marL="123825" marR="123825" marT="123825" marB="12382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ctr">
                        <a:lnSpc>
                          <a:spcPts val="1844"/>
                        </a:lnSpc>
                        <a:defRPr/>
                      </a:pPr>
                      <a:endParaRPr lang="en-US" sz="1100"/>
                    </a:p>
                  </a:txBody>
                  <a:tcPr marL="123825" marR="123825" marT="123825" marB="123825"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bl>
          </a:graphicData>
        </a:graphic>
      </p:graphicFrame>
      <p:sp>
        <p:nvSpPr>
          <p:cNvPr name="TextBox 3" id="3"/>
          <p:cNvSpPr txBox="true"/>
          <p:nvPr/>
        </p:nvSpPr>
        <p:spPr>
          <a:xfrm rot="0">
            <a:off x="1322832" y="852888"/>
            <a:ext cx="5275212" cy="290541"/>
          </a:xfrm>
          <a:prstGeom prst="rect">
            <a:avLst/>
          </a:prstGeom>
        </p:spPr>
        <p:txBody>
          <a:bodyPr anchor="t" rtlCol="false" tIns="0" lIns="0" bIns="0" rIns="0">
            <a:spAutoFit/>
          </a:bodyPr>
          <a:lstStyle/>
          <a:p>
            <a:pPr algn="l">
              <a:lnSpc>
                <a:spcPts val="2160"/>
              </a:lnSpc>
            </a:pPr>
            <a:r>
              <a:rPr lang="en-US" sz="1880">
                <a:solidFill>
                  <a:srgbClr val="4472C4"/>
                </a:solidFill>
                <a:latin typeface="Arimo"/>
                <a:ea typeface="Arimo"/>
                <a:cs typeface="Arimo"/>
                <a:sym typeface="Arimo"/>
              </a:rPr>
              <a:t>Infosys Springboard Virtual Internship 6.0 Project</a:t>
            </a:r>
          </a:p>
        </p:txBody>
      </p:sp>
      <p:sp>
        <p:nvSpPr>
          <p:cNvPr name="TextBox 4" id="4"/>
          <p:cNvSpPr txBox="true"/>
          <p:nvPr/>
        </p:nvSpPr>
        <p:spPr>
          <a:xfrm rot="0">
            <a:off x="2926080" y="1127208"/>
            <a:ext cx="2068725" cy="290541"/>
          </a:xfrm>
          <a:prstGeom prst="rect">
            <a:avLst/>
          </a:prstGeom>
        </p:spPr>
        <p:txBody>
          <a:bodyPr anchor="t" rtlCol="false" tIns="0" lIns="0" bIns="0" rIns="0">
            <a:spAutoFit/>
          </a:bodyPr>
          <a:lstStyle/>
          <a:p>
            <a:pPr algn="l">
              <a:lnSpc>
                <a:spcPts val="2160"/>
              </a:lnSpc>
            </a:pPr>
            <a:r>
              <a:rPr lang="en-US" sz="1880">
                <a:solidFill>
                  <a:srgbClr val="4472C4"/>
                </a:solidFill>
                <a:latin typeface="Arimo"/>
                <a:ea typeface="Arimo"/>
                <a:cs typeface="Arimo"/>
                <a:sym typeface="Arimo"/>
              </a:rPr>
              <a:t>Completion Report </a:t>
            </a:r>
          </a:p>
        </p:txBody>
      </p:sp>
      <p:sp>
        <p:nvSpPr>
          <p:cNvPr name="TextBox 5" id="5"/>
          <p:cNvSpPr txBox="true"/>
          <p:nvPr/>
        </p:nvSpPr>
        <p:spPr>
          <a:xfrm rot="0">
            <a:off x="1188720" y="1862957"/>
            <a:ext cx="218770" cy="300037"/>
          </a:xfrm>
          <a:prstGeom prst="rect">
            <a:avLst/>
          </a:prstGeom>
        </p:spPr>
        <p:txBody>
          <a:bodyPr anchor="t" rtlCol="false" tIns="0" lIns="0" bIns="0" rIns="0">
            <a:spAutoFit/>
          </a:bodyPr>
          <a:lstStyle/>
          <a:p>
            <a:pPr algn="l">
              <a:lnSpc>
                <a:spcPts val="2364"/>
              </a:lnSpc>
            </a:pPr>
            <a:r>
              <a:rPr lang="en-US" sz="1688">
                <a:solidFill>
                  <a:srgbClr val="4472C4"/>
                </a:solidFill>
                <a:latin typeface="Arimo"/>
                <a:ea typeface="Arimo"/>
                <a:cs typeface="Arimo"/>
                <a:sym typeface="Arimo"/>
              </a:rPr>
              <a:t>1. </a:t>
            </a:r>
          </a:p>
        </p:txBody>
      </p:sp>
      <p:sp>
        <p:nvSpPr>
          <p:cNvPr name="TextBox 6" id="6"/>
          <p:cNvSpPr txBox="true"/>
          <p:nvPr/>
        </p:nvSpPr>
        <p:spPr>
          <a:xfrm rot="0">
            <a:off x="1188720" y="6399905"/>
            <a:ext cx="3921090" cy="657130"/>
          </a:xfrm>
          <a:prstGeom prst="rect">
            <a:avLst/>
          </a:prstGeom>
        </p:spPr>
        <p:txBody>
          <a:bodyPr anchor="t" rtlCol="false" tIns="0" lIns="0" bIns="0" rIns="0">
            <a:spAutoFit/>
          </a:bodyPr>
          <a:lstStyle/>
          <a:p>
            <a:pPr algn="l">
              <a:lnSpc>
                <a:spcPts val="2364"/>
              </a:lnSpc>
            </a:pPr>
            <a:r>
              <a:rPr lang="en-US" sz="1688" spc="1">
                <a:solidFill>
                  <a:srgbClr val="4472C4"/>
                </a:solidFill>
                <a:latin typeface="Arimo"/>
                <a:ea typeface="Arimo"/>
                <a:cs typeface="Arimo"/>
                <a:sym typeface="Arimo"/>
              </a:rPr>
              <a:t>3. Project Title </a:t>
            </a:r>
          </a:p>
          <a:p>
            <a:pPr algn="l">
              <a:lnSpc>
                <a:spcPts val="1844"/>
              </a:lnSpc>
            </a:pPr>
            <a:r>
              <a:rPr lang="en-US" sz="1317">
                <a:solidFill>
                  <a:srgbClr val="000000"/>
                </a:solidFill>
                <a:latin typeface="Arimo"/>
                <a:ea typeface="Arimo"/>
                <a:cs typeface="Arimo"/>
                <a:sym typeface="Arimo"/>
              </a:rPr>
              <a:t>Inventra – Intelligent Inventory Management System </a:t>
            </a:r>
          </a:p>
        </p:txBody>
      </p:sp>
      <p:sp>
        <p:nvSpPr>
          <p:cNvPr name="TextBox 7" id="7"/>
          <p:cNvSpPr txBox="true"/>
          <p:nvPr/>
        </p:nvSpPr>
        <p:spPr>
          <a:xfrm rot="0">
            <a:off x="1188720" y="4029004"/>
            <a:ext cx="719852" cy="514416"/>
          </a:xfrm>
          <a:prstGeom prst="rect">
            <a:avLst/>
          </a:prstGeom>
        </p:spPr>
        <p:txBody>
          <a:bodyPr anchor="t" rtlCol="false" tIns="0" lIns="0" bIns="0" rIns="0">
            <a:spAutoFit/>
          </a:bodyPr>
          <a:lstStyle/>
          <a:p>
            <a:pPr algn="l">
              <a:lnSpc>
                <a:spcPts val="2096"/>
              </a:lnSpc>
            </a:pPr>
            <a:r>
              <a:rPr lang="en-US" sz="1497" spc="1">
                <a:solidFill>
                  <a:srgbClr val="4472C4"/>
                </a:solidFill>
                <a:latin typeface="Arimo"/>
                <a:ea typeface="Arimo"/>
                <a:cs typeface="Arimo"/>
                <a:sym typeface="Arimo"/>
              </a:rPr>
              <a:t>2.Name:</a:t>
            </a:r>
          </a:p>
          <a:p>
            <a:pPr algn="l">
              <a:lnSpc>
                <a:spcPts val="2096"/>
              </a:lnSpc>
            </a:pPr>
          </a:p>
        </p:txBody>
      </p:sp>
      <p:sp>
        <p:nvSpPr>
          <p:cNvPr name="TextBox 8" id="8"/>
          <p:cNvSpPr txBox="true"/>
          <p:nvPr/>
        </p:nvSpPr>
        <p:spPr>
          <a:xfrm rot="0">
            <a:off x="1188720" y="7512453"/>
            <a:ext cx="1696698" cy="261899"/>
          </a:xfrm>
          <a:prstGeom prst="rect">
            <a:avLst/>
          </a:prstGeom>
        </p:spPr>
        <p:txBody>
          <a:bodyPr anchor="t" rtlCol="false" tIns="0" lIns="0" bIns="0" rIns="0">
            <a:spAutoFit/>
          </a:bodyPr>
          <a:lstStyle/>
          <a:p>
            <a:pPr algn="l">
              <a:lnSpc>
                <a:spcPts val="2096"/>
              </a:lnSpc>
            </a:pPr>
            <a:r>
              <a:rPr lang="en-US" sz="1497" spc="2">
                <a:solidFill>
                  <a:srgbClr val="4472C4"/>
                </a:solidFill>
                <a:latin typeface="Arimo"/>
                <a:ea typeface="Arimo"/>
                <a:cs typeface="Arimo"/>
                <a:sym typeface="Arimo"/>
              </a:rPr>
              <a:t>4. Project Objective </a:t>
            </a:r>
          </a:p>
        </p:txBody>
      </p:sp>
      <p:sp>
        <p:nvSpPr>
          <p:cNvPr name="TextBox 9" id="9"/>
          <p:cNvSpPr txBox="true"/>
          <p:nvPr/>
        </p:nvSpPr>
        <p:spPr>
          <a:xfrm rot="0">
            <a:off x="1405128" y="1872482"/>
            <a:ext cx="1551661" cy="290512"/>
          </a:xfrm>
          <a:prstGeom prst="rect">
            <a:avLst/>
          </a:prstGeom>
        </p:spPr>
        <p:txBody>
          <a:bodyPr anchor="t" rtlCol="false" tIns="0" lIns="0" bIns="0" rIns="0">
            <a:spAutoFit/>
          </a:bodyPr>
          <a:lstStyle/>
          <a:p>
            <a:pPr algn="l">
              <a:lnSpc>
                <a:spcPts val="2096"/>
              </a:lnSpc>
            </a:pPr>
            <a:r>
              <a:rPr lang="en-US" sz="1497" spc="2">
                <a:solidFill>
                  <a:srgbClr val="4472C4"/>
                </a:solidFill>
                <a:latin typeface="Arimo"/>
                <a:ea typeface="Arimo"/>
                <a:cs typeface="Arimo"/>
                <a:sym typeface="Arimo"/>
              </a:rPr>
              <a:t>Internship Details </a:t>
            </a:r>
          </a:p>
        </p:txBody>
      </p:sp>
      <p:sp>
        <p:nvSpPr>
          <p:cNvPr name="TextBox 10" id="10"/>
          <p:cNvSpPr txBox="true"/>
          <p:nvPr/>
        </p:nvSpPr>
        <p:spPr>
          <a:xfrm rot="0">
            <a:off x="1403604" y="7936059"/>
            <a:ext cx="55559" cy="181261"/>
          </a:xfrm>
          <a:prstGeom prst="rect">
            <a:avLst/>
          </a:prstGeom>
        </p:spPr>
        <p:txBody>
          <a:bodyPr anchor="t" rtlCol="false" tIns="0" lIns="0" bIns="0" rIns="0">
            <a:spAutoFit/>
          </a:bodyPr>
          <a:lstStyle/>
          <a:p>
            <a:pPr algn="l">
              <a:lnSpc>
                <a:spcPts val="1308"/>
              </a:lnSpc>
            </a:pPr>
            <a:r>
              <a:rPr lang="en-US" sz="934">
                <a:solidFill>
                  <a:srgbClr val="000000"/>
                </a:solidFill>
                <a:latin typeface="Arimo"/>
                <a:ea typeface="Arimo"/>
                <a:cs typeface="Arimo"/>
                <a:sym typeface="Arimo"/>
              </a:rPr>
              <a:t></a:t>
            </a:r>
          </a:p>
        </p:txBody>
      </p:sp>
      <p:sp>
        <p:nvSpPr>
          <p:cNvPr name="TextBox 11" id="11"/>
          <p:cNvSpPr txBox="true"/>
          <p:nvPr/>
        </p:nvSpPr>
        <p:spPr>
          <a:xfrm rot="0">
            <a:off x="1618488" y="2304040"/>
            <a:ext cx="284321" cy="599249"/>
          </a:xfrm>
          <a:prstGeom prst="rect">
            <a:avLst/>
          </a:prstGeom>
        </p:spPr>
        <p:txBody>
          <a:bodyPr anchor="t" rtlCol="false" tIns="0" lIns="0" bIns="0" rIns="0">
            <a:spAutoFit/>
          </a:bodyPr>
          <a:lstStyle/>
          <a:p>
            <a:pPr algn="l" marL="284397" indent="-142198" lvl="1">
              <a:lnSpc>
                <a:spcPts val="1512"/>
              </a:lnSpc>
              <a:buFont typeface="Arial"/>
              <a:buChar char="•"/>
            </a:pPr>
          </a:p>
          <a:p>
            <a:pPr algn="l">
              <a:lnSpc>
                <a:spcPts val="1512"/>
              </a:lnSpc>
            </a:pPr>
          </a:p>
          <a:p>
            <a:pPr algn="l">
              <a:lnSpc>
                <a:spcPts val="1512"/>
              </a:lnSpc>
            </a:pPr>
          </a:p>
        </p:txBody>
      </p:sp>
      <p:sp>
        <p:nvSpPr>
          <p:cNvPr name="TextBox 12" id="12"/>
          <p:cNvSpPr txBox="true"/>
          <p:nvPr/>
        </p:nvSpPr>
        <p:spPr>
          <a:xfrm rot="0">
            <a:off x="1618488" y="2594140"/>
            <a:ext cx="1979613" cy="218249"/>
          </a:xfrm>
          <a:prstGeom prst="rect">
            <a:avLst/>
          </a:prstGeom>
        </p:spPr>
        <p:txBody>
          <a:bodyPr anchor="t" rtlCol="false" tIns="0" lIns="0" bIns="0" rIns="0">
            <a:spAutoFit/>
          </a:bodyPr>
          <a:lstStyle/>
          <a:p>
            <a:pPr algn="l" marL="284397" indent="-142198" lvl="1">
              <a:lnSpc>
                <a:spcPts val="1512"/>
              </a:lnSpc>
              <a:buFont typeface="Arial"/>
              <a:buChar char="•"/>
            </a:pPr>
            <a:r>
              <a:rPr lang="en-US" sz="1317" spc="1">
                <a:solidFill>
                  <a:srgbClr val="000000"/>
                </a:solidFill>
                <a:latin typeface="Arimo"/>
                <a:ea typeface="Arimo"/>
                <a:cs typeface="Arimo"/>
                <a:sym typeface="Arimo"/>
              </a:rPr>
              <a:t>Start Date: 25-NOV-25</a:t>
            </a:r>
          </a:p>
        </p:txBody>
      </p:sp>
      <p:sp>
        <p:nvSpPr>
          <p:cNvPr name="TextBox 13" id="13"/>
          <p:cNvSpPr txBox="true"/>
          <p:nvPr/>
        </p:nvSpPr>
        <p:spPr>
          <a:xfrm rot="0">
            <a:off x="1908572" y="2348332"/>
            <a:ext cx="2984602" cy="196882"/>
          </a:xfrm>
          <a:prstGeom prst="rect">
            <a:avLst/>
          </a:prstGeom>
        </p:spPr>
        <p:txBody>
          <a:bodyPr anchor="t" rtlCol="false" tIns="0" lIns="0" bIns="0" rIns="0">
            <a:spAutoFit/>
          </a:bodyPr>
          <a:lstStyle/>
          <a:p>
            <a:pPr algn="l">
              <a:lnSpc>
                <a:spcPts val="1512"/>
              </a:lnSpc>
            </a:pPr>
            <a:r>
              <a:rPr lang="en-US" sz="1317" spc="-5">
                <a:solidFill>
                  <a:srgbClr val="000000"/>
                </a:solidFill>
                <a:latin typeface="IBM Plex Sans Condensed"/>
                <a:ea typeface="IBM Plex Sans Condensed"/>
                <a:cs typeface="IBM Plex Sans Condensed"/>
                <a:sym typeface="IBM Plex Sans Condensed"/>
              </a:rPr>
              <a:t> Infosys Springboard Virtual Internship 6.0 </a:t>
            </a:r>
          </a:p>
        </p:txBody>
      </p:sp>
      <p:sp>
        <p:nvSpPr>
          <p:cNvPr name="TextBox 14" id="14"/>
          <p:cNvSpPr txBox="true"/>
          <p:nvPr/>
        </p:nvSpPr>
        <p:spPr>
          <a:xfrm rot="0">
            <a:off x="1618488" y="7918456"/>
            <a:ext cx="5098742" cy="599980"/>
          </a:xfrm>
          <a:prstGeom prst="rect">
            <a:avLst/>
          </a:prstGeom>
        </p:spPr>
        <p:txBody>
          <a:bodyPr anchor="t" rtlCol="false" tIns="0" lIns="0" bIns="0" rIns="0">
            <a:spAutoFit/>
          </a:bodyPr>
          <a:lstStyle/>
          <a:p>
            <a:pPr algn="just">
              <a:lnSpc>
                <a:spcPts val="1512"/>
              </a:lnSpc>
            </a:pPr>
            <a:r>
              <a:rPr lang="en-US" sz="1317" spc="25">
                <a:solidFill>
                  <a:srgbClr val="000000"/>
                </a:solidFill>
                <a:latin typeface="Arimo"/>
                <a:ea typeface="Arimo"/>
                <a:cs typeface="Arimo"/>
                <a:sym typeface="Arimo"/>
              </a:rPr>
              <a:t>Enable Intelligent Inventory Tracking – Accurately monitor product </a:t>
            </a:r>
          </a:p>
          <a:p>
            <a:pPr algn="just">
              <a:lnSpc>
                <a:spcPts val="1512"/>
              </a:lnSpc>
            </a:pPr>
            <a:r>
              <a:rPr lang="en-US" sz="1317" spc="-5">
                <a:solidFill>
                  <a:srgbClr val="000000"/>
                </a:solidFill>
                <a:latin typeface="IBM Plex Sans Condensed"/>
                <a:ea typeface="IBM Plex Sans Condensed"/>
                <a:cs typeface="IBM Plex Sans Condensed"/>
                <a:sym typeface="IBM Plex Sans Condensed"/>
              </a:rPr>
              <a:t>quantities, stock movement, and availability in real time using a centralized database system. </a:t>
            </a:r>
          </a:p>
        </p:txBody>
      </p:sp>
      <p:sp>
        <p:nvSpPr>
          <p:cNvPr name="TextBox 15" id="15"/>
          <p:cNvSpPr txBox="true"/>
          <p:nvPr/>
        </p:nvSpPr>
        <p:spPr>
          <a:xfrm rot="0">
            <a:off x="1618488" y="2922340"/>
            <a:ext cx="1698863" cy="250929"/>
          </a:xfrm>
          <a:prstGeom prst="rect">
            <a:avLst/>
          </a:prstGeom>
        </p:spPr>
        <p:txBody>
          <a:bodyPr anchor="t" rtlCol="false" tIns="0" lIns="0" bIns="0" rIns="0">
            <a:spAutoFit/>
          </a:bodyPr>
          <a:lstStyle/>
          <a:p>
            <a:pPr algn="ctr" marL="295979" indent="-147990" lvl="1">
              <a:lnSpc>
                <a:spcPts val="1919"/>
              </a:lnSpc>
              <a:buFont typeface="Arial"/>
              <a:buChar char="•"/>
            </a:pPr>
            <a:r>
              <a:rPr lang="en-US" sz="1370">
                <a:solidFill>
                  <a:srgbClr val="000000"/>
                </a:solidFill>
                <a:latin typeface="Arimo"/>
                <a:ea typeface="Arimo"/>
                <a:cs typeface="Arimo"/>
                <a:sym typeface="Arimo"/>
              </a:rPr>
              <a:t>Batch Number :10</a:t>
            </a:r>
          </a:p>
        </p:txBody>
      </p:sp>
      <p:sp>
        <p:nvSpPr>
          <p:cNvPr name="TextBox 16" id="16"/>
          <p:cNvSpPr txBox="true"/>
          <p:nvPr/>
        </p:nvSpPr>
        <p:spPr>
          <a:xfrm rot="0">
            <a:off x="1616893" y="4952995"/>
            <a:ext cx="420176" cy="260147"/>
          </a:xfrm>
          <a:prstGeom prst="rect">
            <a:avLst/>
          </a:prstGeom>
        </p:spPr>
        <p:txBody>
          <a:bodyPr anchor="t" rtlCol="false" tIns="0" lIns="0" bIns="0" rIns="0">
            <a:spAutoFit/>
          </a:bodyPr>
          <a:lstStyle/>
          <a:p>
            <a:pPr algn="ctr">
              <a:lnSpc>
                <a:spcPts val="2083"/>
              </a:lnSpc>
              <a:spcBef>
                <a:spcPct val="0"/>
              </a:spcBef>
            </a:pPr>
            <a:r>
              <a:rPr lang="en-US" sz="1487">
                <a:solidFill>
                  <a:srgbClr val="000000"/>
                </a:solidFill>
                <a:latin typeface="Arimo"/>
                <a:ea typeface="Arimo"/>
                <a:cs typeface="Arimo"/>
                <a:sym typeface="Arimo"/>
              </a:rPr>
              <a:t>S.No</a:t>
            </a:r>
          </a:p>
        </p:txBody>
      </p:sp>
      <p:sp>
        <p:nvSpPr>
          <p:cNvPr name="TextBox 17" id="17"/>
          <p:cNvSpPr txBox="true"/>
          <p:nvPr/>
        </p:nvSpPr>
        <p:spPr>
          <a:xfrm rot="0">
            <a:off x="3886200" y="4940740"/>
            <a:ext cx="576199" cy="272401"/>
          </a:xfrm>
          <a:prstGeom prst="rect">
            <a:avLst/>
          </a:prstGeom>
        </p:spPr>
        <p:txBody>
          <a:bodyPr anchor="t" rtlCol="false" tIns="0" lIns="0" bIns="0" rIns="0">
            <a:spAutoFit/>
          </a:bodyPr>
          <a:lstStyle/>
          <a:p>
            <a:pPr algn="ctr">
              <a:lnSpc>
                <a:spcPts val="2198"/>
              </a:lnSpc>
              <a:spcBef>
                <a:spcPct val="0"/>
              </a:spcBef>
            </a:pPr>
            <a:r>
              <a:rPr lang="en-US" sz="1570">
                <a:solidFill>
                  <a:srgbClr val="000000"/>
                </a:solidFill>
                <a:latin typeface="Arimo"/>
                <a:ea typeface="Arimo"/>
                <a:cs typeface="Arimo"/>
                <a:sym typeface="Arimo"/>
              </a:rPr>
              <a:t>NAME</a:t>
            </a:r>
          </a:p>
        </p:txBody>
      </p:sp>
      <p:sp>
        <p:nvSpPr>
          <p:cNvPr name="TextBox 18" id="18"/>
          <p:cNvSpPr txBox="true"/>
          <p:nvPr/>
        </p:nvSpPr>
        <p:spPr>
          <a:xfrm rot="0">
            <a:off x="1752738" y="5350935"/>
            <a:ext cx="148485" cy="361279"/>
          </a:xfrm>
          <a:prstGeom prst="rect">
            <a:avLst/>
          </a:prstGeom>
        </p:spPr>
        <p:txBody>
          <a:bodyPr anchor="t" rtlCol="false" tIns="0" lIns="0" bIns="0" rIns="0">
            <a:spAutoFit/>
          </a:bodyPr>
          <a:lstStyle/>
          <a:p>
            <a:pPr algn="ctr">
              <a:lnSpc>
                <a:spcPts val="2942"/>
              </a:lnSpc>
              <a:spcBef>
                <a:spcPct val="0"/>
              </a:spcBef>
            </a:pPr>
            <a:r>
              <a:rPr lang="en-US" sz="2101">
                <a:solidFill>
                  <a:srgbClr val="000000"/>
                </a:solidFill>
                <a:latin typeface="Arimo"/>
                <a:ea typeface="Arimo"/>
                <a:cs typeface="Arimo"/>
                <a:sym typeface="Arimo"/>
              </a:rPr>
              <a:t>1</a:t>
            </a:r>
          </a:p>
        </p:txBody>
      </p:sp>
      <p:sp>
        <p:nvSpPr>
          <p:cNvPr name="TextBox 19" id="19"/>
          <p:cNvSpPr txBox="true"/>
          <p:nvPr/>
        </p:nvSpPr>
        <p:spPr>
          <a:xfrm rot="0">
            <a:off x="3923284" y="5495045"/>
            <a:ext cx="1078230" cy="217170"/>
          </a:xfrm>
          <a:prstGeom prst="rect">
            <a:avLst/>
          </a:prstGeom>
        </p:spPr>
        <p:txBody>
          <a:bodyPr anchor="t" rtlCol="false" tIns="0" lIns="0" bIns="0" rIns="0">
            <a:spAutoFit/>
          </a:bodyPr>
          <a:lstStyle/>
          <a:p>
            <a:pPr algn="ctr">
              <a:lnSpc>
                <a:spcPts val="1679"/>
              </a:lnSpc>
              <a:spcBef>
                <a:spcPct val="0"/>
              </a:spcBef>
            </a:pPr>
            <a:r>
              <a:rPr lang="en-US" sz="1200">
                <a:solidFill>
                  <a:srgbClr val="000000"/>
                </a:solidFill>
                <a:latin typeface="Arimo"/>
                <a:ea typeface="Arimo"/>
                <a:cs typeface="Arimo"/>
                <a:sym typeface="Arimo"/>
              </a:rPr>
              <a:t>RAJESWARI R </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52193" y="223009"/>
            <a:ext cx="6660385" cy="9604753"/>
          </a:xfrm>
          <a:custGeom>
            <a:avLst/>
            <a:gdLst/>
            <a:ahLst/>
            <a:cxnLst/>
            <a:rect r="r" b="b" t="t" l="l"/>
            <a:pathLst>
              <a:path h="9604753" w="6660385">
                <a:moveTo>
                  <a:pt x="0" y="0"/>
                </a:moveTo>
                <a:lnTo>
                  <a:pt x="6660385" y="0"/>
                </a:lnTo>
                <a:lnTo>
                  <a:pt x="6660385" y="9604753"/>
                </a:lnTo>
                <a:lnTo>
                  <a:pt x="0" y="96047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403604" y="858603"/>
            <a:ext cx="55559" cy="181261"/>
          </a:xfrm>
          <a:prstGeom prst="rect">
            <a:avLst/>
          </a:prstGeom>
        </p:spPr>
        <p:txBody>
          <a:bodyPr anchor="t" rtlCol="false" tIns="0" lIns="0" bIns="0" rIns="0">
            <a:spAutoFit/>
          </a:bodyPr>
          <a:lstStyle/>
          <a:p>
            <a:pPr algn="l">
              <a:lnSpc>
                <a:spcPts val="1308"/>
              </a:lnSpc>
            </a:pPr>
            <a:r>
              <a:rPr lang="en-US" sz="934">
                <a:solidFill>
                  <a:srgbClr val="000000"/>
                </a:solidFill>
                <a:latin typeface="Arimo"/>
                <a:ea typeface="Arimo"/>
                <a:cs typeface="Arimo"/>
                <a:sym typeface="Arimo"/>
              </a:rPr>
              <a:t></a:t>
            </a:r>
          </a:p>
        </p:txBody>
      </p:sp>
      <p:sp>
        <p:nvSpPr>
          <p:cNvPr name="TextBox 4" id="4"/>
          <p:cNvSpPr txBox="true"/>
          <p:nvPr/>
        </p:nvSpPr>
        <p:spPr>
          <a:xfrm rot="0">
            <a:off x="1403604" y="1961979"/>
            <a:ext cx="55559" cy="181261"/>
          </a:xfrm>
          <a:prstGeom prst="rect">
            <a:avLst/>
          </a:prstGeom>
        </p:spPr>
        <p:txBody>
          <a:bodyPr anchor="t" rtlCol="false" tIns="0" lIns="0" bIns="0" rIns="0">
            <a:spAutoFit/>
          </a:bodyPr>
          <a:lstStyle/>
          <a:p>
            <a:pPr algn="l">
              <a:lnSpc>
                <a:spcPts val="1308"/>
              </a:lnSpc>
            </a:pPr>
            <a:r>
              <a:rPr lang="en-US" sz="934">
                <a:solidFill>
                  <a:srgbClr val="000000"/>
                </a:solidFill>
                <a:latin typeface="Arimo"/>
                <a:ea typeface="Arimo"/>
                <a:cs typeface="Arimo"/>
                <a:sym typeface="Arimo"/>
              </a:rPr>
              <a:t></a:t>
            </a:r>
          </a:p>
        </p:txBody>
      </p:sp>
      <p:sp>
        <p:nvSpPr>
          <p:cNvPr name="TextBox 5" id="5"/>
          <p:cNvSpPr txBox="true"/>
          <p:nvPr/>
        </p:nvSpPr>
        <p:spPr>
          <a:xfrm rot="0">
            <a:off x="1403604" y="3065355"/>
            <a:ext cx="55559" cy="181261"/>
          </a:xfrm>
          <a:prstGeom prst="rect">
            <a:avLst/>
          </a:prstGeom>
        </p:spPr>
        <p:txBody>
          <a:bodyPr anchor="t" rtlCol="false" tIns="0" lIns="0" bIns="0" rIns="0">
            <a:spAutoFit/>
          </a:bodyPr>
          <a:lstStyle/>
          <a:p>
            <a:pPr algn="l">
              <a:lnSpc>
                <a:spcPts val="1308"/>
              </a:lnSpc>
            </a:pPr>
            <a:r>
              <a:rPr lang="en-US" sz="934">
                <a:solidFill>
                  <a:srgbClr val="000000"/>
                </a:solidFill>
                <a:latin typeface="Arimo"/>
                <a:ea typeface="Arimo"/>
                <a:cs typeface="Arimo"/>
                <a:sym typeface="Arimo"/>
              </a:rPr>
              <a:t></a:t>
            </a:r>
          </a:p>
        </p:txBody>
      </p:sp>
      <p:sp>
        <p:nvSpPr>
          <p:cNvPr name="TextBox 6" id="6"/>
          <p:cNvSpPr txBox="true"/>
          <p:nvPr/>
        </p:nvSpPr>
        <p:spPr>
          <a:xfrm rot="0">
            <a:off x="1403604" y="4168731"/>
            <a:ext cx="55559" cy="181261"/>
          </a:xfrm>
          <a:prstGeom prst="rect">
            <a:avLst/>
          </a:prstGeom>
        </p:spPr>
        <p:txBody>
          <a:bodyPr anchor="t" rtlCol="false" tIns="0" lIns="0" bIns="0" rIns="0">
            <a:spAutoFit/>
          </a:bodyPr>
          <a:lstStyle/>
          <a:p>
            <a:pPr algn="l">
              <a:lnSpc>
                <a:spcPts val="1308"/>
              </a:lnSpc>
            </a:pPr>
            <a:r>
              <a:rPr lang="en-US" sz="934">
                <a:solidFill>
                  <a:srgbClr val="000000"/>
                </a:solidFill>
                <a:latin typeface="Arimo"/>
                <a:ea typeface="Arimo"/>
                <a:cs typeface="Arimo"/>
                <a:sym typeface="Arimo"/>
              </a:rPr>
              <a:t></a:t>
            </a:r>
          </a:p>
        </p:txBody>
      </p:sp>
      <p:sp>
        <p:nvSpPr>
          <p:cNvPr name="TextBox 7" id="7"/>
          <p:cNvSpPr txBox="true"/>
          <p:nvPr/>
        </p:nvSpPr>
        <p:spPr>
          <a:xfrm rot="0">
            <a:off x="1458468" y="841000"/>
            <a:ext cx="3785968" cy="215932"/>
          </a:xfrm>
          <a:prstGeom prst="rect">
            <a:avLst/>
          </a:prstGeom>
        </p:spPr>
        <p:txBody>
          <a:bodyPr anchor="t" rtlCol="false" tIns="0" lIns="0" bIns="0" rIns="0">
            <a:spAutoFit/>
          </a:bodyPr>
          <a:lstStyle/>
          <a:p>
            <a:pPr algn="l">
              <a:lnSpc>
                <a:spcPts val="1512"/>
              </a:lnSpc>
            </a:pPr>
            <a:r>
              <a:rPr lang="en-US" sz="1317" spc="22">
                <a:solidFill>
                  <a:srgbClr val="000000"/>
                </a:solidFill>
                <a:latin typeface="Arimo"/>
                <a:ea typeface="Arimo"/>
                <a:cs typeface="Arimo"/>
                <a:sym typeface="Arimo"/>
              </a:rPr>
              <a:t> Provide Efficient Product &amp; Stock Management</a:t>
            </a:r>
          </a:p>
        </p:txBody>
      </p:sp>
      <p:sp>
        <p:nvSpPr>
          <p:cNvPr name="TextBox 8" id="8"/>
          <p:cNvSpPr txBox="true"/>
          <p:nvPr/>
        </p:nvSpPr>
        <p:spPr>
          <a:xfrm rot="0">
            <a:off x="2731570" y="1052074"/>
            <a:ext cx="42662" cy="196882"/>
          </a:xfrm>
          <a:prstGeom prst="rect">
            <a:avLst/>
          </a:prstGeom>
        </p:spPr>
        <p:txBody>
          <a:bodyPr anchor="t" rtlCol="false" tIns="0" lIns="0" bIns="0" rIns="0">
            <a:spAutoFit/>
          </a:bodyPr>
          <a:lstStyle/>
          <a:p>
            <a:pPr algn="l">
              <a:lnSpc>
                <a:spcPts val="1512"/>
              </a:lnSpc>
            </a:pPr>
            <a:r>
              <a:rPr lang="en-US" sz="1317" spc="-5">
                <a:solidFill>
                  <a:srgbClr val="000000"/>
                </a:solidFill>
                <a:latin typeface="IBM Plex Sans Condensed"/>
                <a:ea typeface="IBM Plex Sans Condensed"/>
                <a:cs typeface="IBM Plex Sans Condensed"/>
                <a:sym typeface="IBM Plex Sans Condensed"/>
              </a:rPr>
              <a:t> </a:t>
            </a:r>
          </a:p>
        </p:txBody>
      </p:sp>
      <p:sp>
        <p:nvSpPr>
          <p:cNvPr name="TextBox 9" id="9"/>
          <p:cNvSpPr txBox="true"/>
          <p:nvPr/>
        </p:nvSpPr>
        <p:spPr>
          <a:xfrm rot="0">
            <a:off x="1618488" y="1944376"/>
            <a:ext cx="5098142" cy="599980"/>
          </a:xfrm>
          <a:prstGeom prst="rect">
            <a:avLst/>
          </a:prstGeom>
        </p:spPr>
        <p:txBody>
          <a:bodyPr anchor="t" rtlCol="false" tIns="0" lIns="0" bIns="0" rIns="0">
            <a:spAutoFit/>
          </a:bodyPr>
          <a:lstStyle/>
          <a:p>
            <a:pPr algn="just">
              <a:lnSpc>
                <a:spcPts val="1512"/>
              </a:lnSpc>
            </a:pPr>
            <a:r>
              <a:rPr lang="en-US" sz="1317">
                <a:solidFill>
                  <a:srgbClr val="000000"/>
                </a:solidFill>
                <a:latin typeface="Arimo"/>
                <a:ea typeface="Arimo"/>
                <a:cs typeface="Arimo"/>
                <a:sym typeface="Arimo"/>
              </a:rPr>
              <a:t>Implement Automated Inventory Alerts – Generate timely notifications </a:t>
            </a:r>
          </a:p>
          <a:p>
            <a:pPr algn="just">
              <a:lnSpc>
                <a:spcPts val="1512"/>
              </a:lnSpc>
            </a:pPr>
            <a:r>
              <a:rPr lang="en-US" sz="1317" spc="-5">
                <a:solidFill>
                  <a:srgbClr val="000000"/>
                </a:solidFill>
                <a:latin typeface="IBM Plex Sans Condensed"/>
                <a:ea typeface="IBM Plex Sans Condensed"/>
                <a:cs typeface="IBM Plex Sans Condensed"/>
                <a:sym typeface="IBM Plex Sans Condensed"/>
              </a:rPr>
              <a:t>for low-stock situations to prevent shortages and ensure uninterrupted operations. </a:t>
            </a:r>
          </a:p>
        </p:txBody>
      </p:sp>
      <p:sp>
        <p:nvSpPr>
          <p:cNvPr name="TextBox 10" id="10"/>
          <p:cNvSpPr txBox="true"/>
          <p:nvPr/>
        </p:nvSpPr>
        <p:spPr>
          <a:xfrm rot="0">
            <a:off x="1618488" y="3047752"/>
            <a:ext cx="5098828" cy="599980"/>
          </a:xfrm>
          <a:prstGeom prst="rect">
            <a:avLst/>
          </a:prstGeom>
        </p:spPr>
        <p:txBody>
          <a:bodyPr anchor="t" rtlCol="false" tIns="0" lIns="0" bIns="0" rIns="0">
            <a:spAutoFit/>
          </a:bodyPr>
          <a:lstStyle/>
          <a:p>
            <a:pPr algn="just">
              <a:lnSpc>
                <a:spcPts val="1512"/>
              </a:lnSpc>
            </a:pPr>
            <a:r>
              <a:rPr lang="en-US" sz="1317">
                <a:solidFill>
                  <a:srgbClr val="000000"/>
                </a:solidFill>
                <a:latin typeface="Arimo"/>
                <a:ea typeface="Arimo"/>
                <a:cs typeface="Arimo"/>
                <a:sym typeface="Arimo"/>
              </a:rPr>
              <a:t>Support Data-Driven Inventory Decisions – Deliver clear insights </a:t>
            </a:r>
          </a:p>
          <a:p>
            <a:pPr algn="just">
              <a:lnSpc>
                <a:spcPts val="1512"/>
              </a:lnSpc>
            </a:pPr>
            <a:r>
              <a:rPr lang="en-US" sz="1317" spc="3">
                <a:solidFill>
                  <a:srgbClr val="000000"/>
                </a:solidFill>
                <a:latin typeface="IBM Plex Sans Condensed"/>
                <a:ea typeface="IBM Plex Sans Condensed"/>
                <a:cs typeface="IBM Plex Sans Condensed"/>
                <a:sym typeface="IBM Plex Sans Condensed"/>
              </a:rPr>
              <a:t>through reports and analytics such as stock summaries, usage trends, and inventory status reports. </a:t>
            </a:r>
          </a:p>
        </p:txBody>
      </p:sp>
      <p:sp>
        <p:nvSpPr>
          <p:cNvPr name="TextBox 11" id="11"/>
          <p:cNvSpPr txBox="true"/>
          <p:nvPr/>
        </p:nvSpPr>
        <p:spPr>
          <a:xfrm rot="0">
            <a:off x="1618488" y="860050"/>
            <a:ext cx="5097628" cy="388906"/>
          </a:xfrm>
          <a:prstGeom prst="rect">
            <a:avLst/>
          </a:prstGeom>
        </p:spPr>
        <p:txBody>
          <a:bodyPr anchor="t" rtlCol="false" tIns="0" lIns="0" bIns="0" rIns="0">
            <a:spAutoFit/>
          </a:bodyPr>
          <a:lstStyle/>
          <a:p>
            <a:pPr algn="r">
              <a:lnSpc>
                <a:spcPts val="1512"/>
              </a:lnSpc>
            </a:pPr>
            <a:r>
              <a:rPr lang="en-US" sz="1317" spc="23">
                <a:solidFill>
                  <a:srgbClr val="000000"/>
                </a:solidFill>
                <a:latin typeface="IBM Plex Sans Condensed"/>
                <a:ea typeface="IBM Plex Sans Condensed"/>
                <a:cs typeface="IBM Plex Sans Condensed"/>
                <a:sym typeface="IBM Plex Sans Condensed"/>
              </a:rPr>
              <a:t> – Support seamless addition, update,anddeletionofproductandinventory records to maintain </a:t>
            </a:r>
          </a:p>
        </p:txBody>
      </p:sp>
      <p:sp>
        <p:nvSpPr>
          <p:cNvPr name="TextBox 12" id="12"/>
          <p:cNvSpPr txBox="true"/>
          <p:nvPr/>
        </p:nvSpPr>
        <p:spPr>
          <a:xfrm rot="0">
            <a:off x="1618488" y="1244098"/>
            <a:ext cx="1901066" cy="196882"/>
          </a:xfrm>
          <a:prstGeom prst="rect">
            <a:avLst/>
          </a:prstGeom>
        </p:spPr>
        <p:txBody>
          <a:bodyPr anchor="t" rtlCol="false" tIns="0" lIns="0" bIns="0" rIns="0">
            <a:spAutoFit/>
          </a:bodyPr>
          <a:lstStyle/>
          <a:p>
            <a:pPr algn="l">
              <a:lnSpc>
                <a:spcPts val="1512"/>
              </a:lnSpc>
            </a:pPr>
            <a:r>
              <a:rPr lang="en-US" sz="1317" spc="-5">
                <a:solidFill>
                  <a:srgbClr val="000000"/>
                </a:solidFill>
                <a:latin typeface="IBM Plex Sans Condensed"/>
                <a:ea typeface="IBM Plex Sans Condensed"/>
                <a:cs typeface="IBM Plex Sans Condensed"/>
                <a:sym typeface="IBM Plex Sans Condensed"/>
              </a:rPr>
              <a:t>accurate stock information. </a:t>
            </a:r>
          </a:p>
        </p:txBody>
      </p:sp>
      <p:sp>
        <p:nvSpPr>
          <p:cNvPr name="TextBox 13" id="13"/>
          <p:cNvSpPr txBox="true"/>
          <p:nvPr/>
        </p:nvSpPr>
        <p:spPr>
          <a:xfrm rot="0">
            <a:off x="1618488" y="4151128"/>
            <a:ext cx="5098409" cy="599980"/>
          </a:xfrm>
          <a:prstGeom prst="rect">
            <a:avLst/>
          </a:prstGeom>
        </p:spPr>
        <p:txBody>
          <a:bodyPr anchor="t" rtlCol="false" tIns="0" lIns="0" bIns="0" rIns="0">
            <a:spAutoFit/>
          </a:bodyPr>
          <a:lstStyle/>
          <a:p>
            <a:pPr algn="just">
              <a:lnSpc>
                <a:spcPts val="1512"/>
              </a:lnSpc>
            </a:pPr>
            <a:r>
              <a:rPr lang="en-US" sz="1317" spc="26">
                <a:solidFill>
                  <a:srgbClr val="000000"/>
                </a:solidFill>
                <a:latin typeface="Arimo"/>
                <a:ea typeface="Arimo"/>
                <a:cs typeface="Arimo"/>
                <a:sym typeface="Arimo"/>
              </a:rPr>
              <a:t>Ensure Secure and Scalable System Operation – Protect user access </a:t>
            </a:r>
          </a:p>
          <a:p>
            <a:pPr algn="just">
              <a:lnSpc>
                <a:spcPts val="1512"/>
              </a:lnSpc>
            </a:pPr>
            <a:r>
              <a:rPr lang="en-US" sz="1317" spc="-5">
                <a:solidFill>
                  <a:srgbClr val="000000"/>
                </a:solidFill>
                <a:latin typeface="IBM Plex Sans Condensed"/>
                <a:ea typeface="IBM Plex Sans Condensed"/>
                <a:cs typeface="IBM Plex Sans Condensed"/>
                <a:sym typeface="IBM Plex Sans Condensed"/>
              </a:rPr>
              <a:t>through authentication mechanisms while maintaining a modular architecture that supports future scalability and enhancements. </a:t>
            </a:r>
          </a:p>
        </p:txBody>
      </p:sp>
      <p:sp>
        <p:nvSpPr>
          <p:cNvPr name="TextBox 14" id="14"/>
          <p:cNvSpPr txBox="true"/>
          <p:nvPr/>
        </p:nvSpPr>
        <p:spPr>
          <a:xfrm rot="0">
            <a:off x="1188720" y="5633218"/>
            <a:ext cx="5537749" cy="2644426"/>
          </a:xfrm>
          <a:prstGeom prst="rect">
            <a:avLst/>
          </a:prstGeom>
        </p:spPr>
        <p:txBody>
          <a:bodyPr anchor="t" rtlCol="false" tIns="0" lIns="0" bIns="0" rIns="0">
            <a:spAutoFit/>
          </a:bodyPr>
          <a:lstStyle/>
          <a:p>
            <a:pPr algn="just">
              <a:lnSpc>
                <a:spcPts val="1512"/>
              </a:lnSpc>
            </a:pPr>
            <a:r>
              <a:rPr lang="en-US" sz="1317" spc="-5">
                <a:solidFill>
                  <a:srgbClr val="000000"/>
                </a:solidFill>
                <a:latin typeface="IBM Plex Sans Condensed"/>
                <a:ea typeface="IBM Plex Sans Condensed"/>
                <a:cs typeface="IBM Plex Sans Condensed"/>
                <a:sym typeface="IBM Plex Sans Condensed"/>
              </a:rPr>
              <a:t>Inventra – Intelligent Inventory Management System is a web-based application designed to overcome the limitations of traditional inventory systems such as manual errors, lack of transparency, and inconsistent stock records. </a:t>
            </a:r>
          </a:p>
          <a:p>
            <a:pPr algn="just">
              <a:lnSpc>
                <a:spcPts val="3293"/>
              </a:lnSpc>
            </a:pPr>
            <a:r>
              <a:rPr lang="en-US" sz="1317" spc="1">
                <a:solidFill>
                  <a:srgbClr val="000000"/>
                </a:solidFill>
                <a:latin typeface="IBM Plex Sans Condensed"/>
                <a:ea typeface="IBM Plex Sans Condensed"/>
                <a:cs typeface="IBM Plex Sans Condensed"/>
                <a:sym typeface="IBM Plex Sans Condensed"/>
              </a:rPr>
              <a:t>The system follows a layered architecture using Spring Boot and REST APIs. </a:t>
            </a:r>
          </a:p>
          <a:p>
            <a:pPr algn="just">
              <a:lnSpc>
                <a:spcPts val="658"/>
              </a:lnSpc>
            </a:pPr>
            <a:r>
              <a:rPr lang="en-US" sz="1317" spc="-5">
                <a:solidFill>
                  <a:srgbClr val="000000"/>
                </a:solidFill>
                <a:latin typeface="IBM Plex Sans Condensed"/>
                <a:ea typeface="IBM Plex Sans Condensed"/>
                <a:cs typeface="IBM Plex Sans Condensed"/>
                <a:sym typeface="IBM Plex Sans Condensed"/>
              </a:rPr>
              <a:t>It allows authenticated users to manage products, perform stock-in and stock-out </a:t>
            </a:r>
          </a:p>
          <a:p>
            <a:pPr algn="just">
              <a:lnSpc>
                <a:spcPts val="2365"/>
              </a:lnSpc>
            </a:pPr>
            <a:r>
              <a:rPr lang="en-US" sz="1317" spc="10">
                <a:solidFill>
                  <a:srgbClr val="000000"/>
                </a:solidFill>
                <a:latin typeface="IBM Plex Sans Condensed"/>
                <a:ea typeface="IBM Plex Sans Condensed"/>
                <a:cs typeface="IBM Plex Sans Condensed"/>
                <a:sym typeface="IBM Plex Sans Condensed"/>
              </a:rPr>
              <a:t>operations, and automatically records each transaction. When inventory levels </a:t>
            </a:r>
          </a:p>
          <a:p>
            <a:pPr algn="just">
              <a:lnSpc>
                <a:spcPts val="658"/>
              </a:lnSpc>
            </a:pPr>
            <a:r>
              <a:rPr lang="en-US" sz="1317" spc="-5">
                <a:solidFill>
                  <a:srgbClr val="000000"/>
                </a:solidFill>
                <a:latin typeface="IBM Plex Sans Condensed"/>
                <a:ea typeface="IBM Plex Sans Condensed"/>
                <a:cs typeface="IBM Plex Sans Condensed"/>
                <a:sym typeface="IBM Plex Sans Condensed"/>
              </a:rPr>
              <a:t>fall below a predefined threshold, the system generates alerts to notify responsible </a:t>
            </a:r>
          </a:p>
          <a:p>
            <a:pPr algn="just">
              <a:lnSpc>
                <a:spcPts val="2365"/>
              </a:lnSpc>
            </a:pPr>
            <a:r>
              <a:rPr lang="en-US" sz="1317" spc="-5">
                <a:solidFill>
                  <a:srgbClr val="000000"/>
                </a:solidFill>
                <a:latin typeface="IBM Plex Sans Condensed"/>
                <a:ea typeface="IBM Plex Sans Condensed"/>
                <a:cs typeface="IBM Plex Sans Condensed"/>
                <a:sym typeface="IBM Plex Sans Condensed"/>
              </a:rPr>
              <a:t>users. </a:t>
            </a:r>
          </a:p>
          <a:p>
            <a:pPr algn="just">
              <a:lnSpc>
                <a:spcPts val="3293"/>
              </a:lnSpc>
            </a:pPr>
            <a:r>
              <a:rPr lang="en-US" sz="1317" spc="13">
                <a:solidFill>
                  <a:srgbClr val="000000"/>
                </a:solidFill>
                <a:latin typeface="Arimo"/>
                <a:ea typeface="Arimo"/>
                <a:cs typeface="Arimo"/>
                <a:sym typeface="Arimo"/>
              </a:rPr>
              <a:t>The application ensures data consistency, security, and accountability using </a:t>
            </a:r>
          </a:p>
          <a:p>
            <a:pPr algn="just">
              <a:lnSpc>
                <a:spcPts val="658"/>
              </a:lnSpc>
            </a:pPr>
            <a:r>
              <a:rPr lang="en-US" sz="1317" spc="-5">
                <a:solidFill>
                  <a:srgbClr val="000000"/>
                </a:solidFill>
                <a:latin typeface="IBM Plex Sans Condensed"/>
                <a:ea typeface="IBM Plex Sans Condensed"/>
                <a:cs typeface="IBM Plex Sans Condensed"/>
                <a:sym typeface="IBM Plex Sans Condensed"/>
              </a:rPr>
              <a:t>transaction management, JWT-based authentication, and role-based access </a:t>
            </a:r>
          </a:p>
          <a:p>
            <a:pPr algn="just">
              <a:lnSpc>
                <a:spcPts val="2389"/>
              </a:lnSpc>
            </a:pPr>
            <a:r>
              <a:rPr lang="en-US" sz="1317" spc="-5">
                <a:solidFill>
                  <a:srgbClr val="000000"/>
                </a:solidFill>
                <a:latin typeface="IBM Plex Sans Condensed"/>
                <a:ea typeface="IBM Plex Sans Condensed"/>
                <a:cs typeface="IBM Plex Sans Condensed"/>
                <a:sym typeface="IBM Plex Sans Condensed"/>
              </a:rPr>
              <a:t>control. Overall, the project provides a reliable and structured solution for </a:t>
            </a:r>
          </a:p>
          <a:p>
            <a:pPr algn="just">
              <a:lnSpc>
                <a:spcPts val="658"/>
              </a:lnSpc>
            </a:pPr>
            <a:r>
              <a:rPr lang="en-US" sz="1317" spc="-5">
                <a:solidFill>
                  <a:srgbClr val="000000"/>
                </a:solidFill>
                <a:latin typeface="IBM Plex Sans Condensed"/>
                <a:ea typeface="IBM Plex Sans Condensed"/>
                <a:cs typeface="IBM Plex Sans Condensed"/>
                <a:sym typeface="IBM Plex Sans Condensed"/>
              </a:rPr>
              <a:t>inventory operations. </a:t>
            </a:r>
          </a:p>
        </p:txBody>
      </p:sp>
      <p:sp>
        <p:nvSpPr>
          <p:cNvPr name="TextBox 15" id="15"/>
          <p:cNvSpPr txBox="true"/>
          <p:nvPr/>
        </p:nvSpPr>
        <p:spPr>
          <a:xfrm rot="0">
            <a:off x="1188720" y="5208165"/>
            <a:ext cx="1858813" cy="261899"/>
          </a:xfrm>
          <a:prstGeom prst="rect">
            <a:avLst/>
          </a:prstGeom>
        </p:spPr>
        <p:txBody>
          <a:bodyPr anchor="t" rtlCol="false" tIns="0" lIns="0" bIns="0" rIns="0">
            <a:spAutoFit/>
          </a:bodyPr>
          <a:lstStyle/>
          <a:p>
            <a:pPr algn="l">
              <a:lnSpc>
                <a:spcPts val="2096"/>
              </a:lnSpc>
            </a:pPr>
            <a:r>
              <a:rPr lang="en-US" sz="1497" spc="2">
                <a:solidFill>
                  <a:srgbClr val="4472C4"/>
                </a:solidFill>
                <a:latin typeface="Arimo"/>
                <a:ea typeface="Arimo"/>
                <a:cs typeface="Arimo"/>
                <a:sym typeface="Arimo"/>
              </a:rPr>
              <a:t>5. Project Description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52193" y="223009"/>
            <a:ext cx="6660385" cy="9604753"/>
          </a:xfrm>
          <a:custGeom>
            <a:avLst/>
            <a:gdLst/>
            <a:ahLst/>
            <a:cxnLst/>
            <a:rect r="r" b="b" t="t" l="l"/>
            <a:pathLst>
              <a:path h="9604753" w="6660385">
                <a:moveTo>
                  <a:pt x="0" y="0"/>
                </a:moveTo>
                <a:lnTo>
                  <a:pt x="6660385" y="0"/>
                </a:lnTo>
                <a:lnTo>
                  <a:pt x="6660385" y="9604753"/>
                </a:lnTo>
                <a:lnTo>
                  <a:pt x="0" y="96047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188720" y="3685689"/>
            <a:ext cx="2106644" cy="621192"/>
          </a:xfrm>
          <a:prstGeom prst="rect">
            <a:avLst/>
          </a:prstGeom>
        </p:spPr>
        <p:txBody>
          <a:bodyPr anchor="t" rtlCol="false" tIns="0" lIns="0" bIns="0" rIns="0">
            <a:spAutoFit/>
          </a:bodyPr>
          <a:lstStyle/>
          <a:p>
            <a:pPr algn="l">
              <a:lnSpc>
                <a:spcPts val="2096"/>
              </a:lnSpc>
            </a:pPr>
            <a:r>
              <a:rPr lang="en-US" sz="1497" spc="2">
                <a:solidFill>
                  <a:srgbClr val="4472C4"/>
                </a:solidFill>
                <a:latin typeface="Arimo"/>
                <a:ea typeface="Arimo"/>
                <a:cs typeface="Arimo"/>
                <a:sym typeface="Arimo"/>
              </a:rPr>
              <a:t>7. Modules Implemented </a:t>
            </a:r>
          </a:p>
          <a:p>
            <a:pPr algn="l">
              <a:lnSpc>
                <a:spcPts val="1844"/>
              </a:lnSpc>
            </a:pPr>
            <a:r>
              <a:rPr lang="en-US" sz="1317">
                <a:solidFill>
                  <a:srgbClr val="000000"/>
                </a:solidFill>
                <a:latin typeface="Arimo"/>
                <a:ea typeface="Arimo"/>
                <a:cs typeface="Arimo"/>
                <a:sym typeface="Arimo"/>
              </a:rPr>
              <a:t>Module 1: Authentication </a:t>
            </a:r>
          </a:p>
        </p:txBody>
      </p:sp>
      <p:sp>
        <p:nvSpPr>
          <p:cNvPr name="TextBox 4" id="4"/>
          <p:cNvSpPr txBox="true"/>
          <p:nvPr/>
        </p:nvSpPr>
        <p:spPr>
          <a:xfrm rot="0">
            <a:off x="1188720" y="823617"/>
            <a:ext cx="2176986" cy="261899"/>
          </a:xfrm>
          <a:prstGeom prst="rect">
            <a:avLst/>
          </a:prstGeom>
        </p:spPr>
        <p:txBody>
          <a:bodyPr anchor="t" rtlCol="false" tIns="0" lIns="0" bIns="0" rIns="0">
            <a:spAutoFit/>
          </a:bodyPr>
          <a:lstStyle/>
          <a:p>
            <a:pPr algn="l">
              <a:lnSpc>
                <a:spcPts val="2096"/>
              </a:lnSpc>
            </a:pPr>
            <a:r>
              <a:rPr lang="en-US" sz="1497" spc="1">
                <a:solidFill>
                  <a:srgbClr val="4472C4"/>
                </a:solidFill>
                <a:latin typeface="Arimo"/>
                <a:ea typeface="Arimo"/>
                <a:cs typeface="Arimo"/>
                <a:sym typeface="Arimo"/>
              </a:rPr>
              <a:t>6. Technology Stack Used </a:t>
            </a:r>
          </a:p>
        </p:txBody>
      </p:sp>
      <p:sp>
        <p:nvSpPr>
          <p:cNvPr name="TextBox 5" id="5"/>
          <p:cNvSpPr txBox="true"/>
          <p:nvPr/>
        </p:nvSpPr>
        <p:spPr>
          <a:xfrm rot="0">
            <a:off x="1403604" y="1226649"/>
            <a:ext cx="89497" cy="1930051"/>
          </a:xfrm>
          <a:prstGeom prst="rect">
            <a:avLst/>
          </a:prstGeom>
        </p:spPr>
        <p:txBody>
          <a:bodyPr anchor="t" rtlCol="false" tIns="0" lIns="0" bIns="0" rIns="0">
            <a:spAutoFit/>
          </a:bodyPr>
          <a:lstStyle/>
          <a:p>
            <a:pPr algn="just">
              <a:lnSpc>
                <a:spcPts val="1511"/>
              </a:lnSpc>
            </a:pPr>
            <a:r>
              <a:rPr lang="en-US" sz="934" spc="2">
                <a:solidFill>
                  <a:srgbClr val="000000"/>
                </a:solidFill>
                <a:latin typeface="Arimo"/>
                <a:ea typeface="Arimo"/>
                <a:cs typeface="Arimo"/>
                <a:sym typeface="Arimo"/>
              </a:rPr>
              <a:t>          </a:t>
            </a:r>
          </a:p>
        </p:txBody>
      </p:sp>
      <p:sp>
        <p:nvSpPr>
          <p:cNvPr name="TextBox 6" id="6"/>
          <p:cNvSpPr txBox="true"/>
          <p:nvPr/>
        </p:nvSpPr>
        <p:spPr>
          <a:xfrm rot="0">
            <a:off x="1403604" y="4448385"/>
            <a:ext cx="89497" cy="584359"/>
          </a:xfrm>
          <a:prstGeom prst="rect">
            <a:avLst/>
          </a:prstGeom>
        </p:spPr>
        <p:txBody>
          <a:bodyPr anchor="t" rtlCol="false" tIns="0" lIns="0" bIns="0" rIns="0">
            <a:spAutoFit/>
          </a:bodyPr>
          <a:lstStyle/>
          <a:p>
            <a:pPr algn="just">
              <a:lnSpc>
                <a:spcPts val="1511"/>
              </a:lnSpc>
            </a:pPr>
            <a:r>
              <a:rPr lang="en-US" sz="934" spc="2">
                <a:solidFill>
                  <a:srgbClr val="000000"/>
                </a:solidFill>
                <a:latin typeface="Arimo"/>
                <a:ea typeface="Arimo"/>
                <a:cs typeface="Arimo"/>
                <a:sym typeface="Arimo"/>
              </a:rPr>
              <a:t>   </a:t>
            </a:r>
          </a:p>
        </p:txBody>
      </p:sp>
      <p:sp>
        <p:nvSpPr>
          <p:cNvPr name="TextBox 7" id="7"/>
          <p:cNvSpPr txBox="true"/>
          <p:nvPr/>
        </p:nvSpPr>
        <p:spPr>
          <a:xfrm rot="0">
            <a:off x="1403604" y="5551761"/>
            <a:ext cx="89497" cy="584359"/>
          </a:xfrm>
          <a:prstGeom prst="rect">
            <a:avLst/>
          </a:prstGeom>
        </p:spPr>
        <p:txBody>
          <a:bodyPr anchor="t" rtlCol="false" tIns="0" lIns="0" bIns="0" rIns="0">
            <a:spAutoFit/>
          </a:bodyPr>
          <a:lstStyle/>
          <a:p>
            <a:pPr algn="just">
              <a:lnSpc>
                <a:spcPts val="1511"/>
              </a:lnSpc>
            </a:pPr>
            <a:r>
              <a:rPr lang="en-US" sz="934" spc="2">
                <a:solidFill>
                  <a:srgbClr val="000000"/>
                </a:solidFill>
                <a:latin typeface="Arimo"/>
                <a:ea typeface="Arimo"/>
                <a:cs typeface="Arimo"/>
                <a:sym typeface="Arimo"/>
              </a:rPr>
              <a:t>   </a:t>
            </a:r>
          </a:p>
        </p:txBody>
      </p:sp>
      <p:sp>
        <p:nvSpPr>
          <p:cNvPr name="TextBox 8" id="8"/>
          <p:cNvSpPr txBox="true"/>
          <p:nvPr/>
        </p:nvSpPr>
        <p:spPr>
          <a:xfrm rot="0">
            <a:off x="1403604" y="6655137"/>
            <a:ext cx="89497" cy="392335"/>
          </a:xfrm>
          <a:prstGeom prst="rect">
            <a:avLst/>
          </a:prstGeom>
        </p:spPr>
        <p:txBody>
          <a:bodyPr anchor="t" rtlCol="false" tIns="0" lIns="0" bIns="0" rIns="0">
            <a:spAutoFit/>
          </a:bodyPr>
          <a:lstStyle/>
          <a:p>
            <a:pPr algn="just">
              <a:lnSpc>
                <a:spcPts val="1511"/>
              </a:lnSpc>
            </a:pPr>
            <a:r>
              <a:rPr lang="en-US" sz="934" spc="2">
                <a:solidFill>
                  <a:srgbClr val="000000"/>
                </a:solidFill>
                <a:latin typeface="Arimo"/>
                <a:ea typeface="Arimo"/>
                <a:cs typeface="Arimo"/>
                <a:sym typeface="Arimo"/>
              </a:rPr>
              <a:t>  </a:t>
            </a:r>
          </a:p>
        </p:txBody>
      </p:sp>
      <p:sp>
        <p:nvSpPr>
          <p:cNvPr name="TextBox 9" id="9"/>
          <p:cNvSpPr txBox="true"/>
          <p:nvPr/>
        </p:nvSpPr>
        <p:spPr>
          <a:xfrm rot="0">
            <a:off x="1403604" y="7566489"/>
            <a:ext cx="89497" cy="584359"/>
          </a:xfrm>
          <a:prstGeom prst="rect">
            <a:avLst/>
          </a:prstGeom>
        </p:spPr>
        <p:txBody>
          <a:bodyPr anchor="t" rtlCol="false" tIns="0" lIns="0" bIns="0" rIns="0">
            <a:spAutoFit/>
          </a:bodyPr>
          <a:lstStyle/>
          <a:p>
            <a:pPr algn="just">
              <a:lnSpc>
                <a:spcPts val="1511"/>
              </a:lnSpc>
            </a:pPr>
            <a:r>
              <a:rPr lang="en-US" sz="934" spc="2">
                <a:solidFill>
                  <a:srgbClr val="000000"/>
                </a:solidFill>
                <a:latin typeface="Arimo"/>
                <a:ea typeface="Arimo"/>
                <a:cs typeface="Arimo"/>
                <a:sym typeface="Arimo"/>
              </a:rPr>
              <a:t>   </a:t>
            </a:r>
          </a:p>
        </p:txBody>
      </p:sp>
      <p:sp>
        <p:nvSpPr>
          <p:cNvPr name="TextBox 10" id="10"/>
          <p:cNvSpPr txBox="true"/>
          <p:nvPr/>
        </p:nvSpPr>
        <p:spPr>
          <a:xfrm rot="0">
            <a:off x="1403604" y="8669865"/>
            <a:ext cx="89497" cy="392335"/>
          </a:xfrm>
          <a:prstGeom prst="rect">
            <a:avLst/>
          </a:prstGeom>
        </p:spPr>
        <p:txBody>
          <a:bodyPr anchor="t" rtlCol="false" tIns="0" lIns="0" bIns="0" rIns="0">
            <a:spAutoFit/>
          </a:bodyPr>
          <a:lstStyle/>
          <a:p>
            <a:pPr algn="just">
              <a:lnSpc>
                <a:spcPts val="1511"/>
              </a:lnSpc>
            </a:pPr>
            <a:r>
              <a:rPr lang="en-US" sz="934" spc="2">
                <a:solidFill>
                  <a:srgbClr val="000000"/>
                </a:solidFill>
                <a:latin typeface="Arimo"/>
                <a:ea typeface="Arimo"/>
                <a:cs typeface="Arimo"/>
                <a:sym typeface="Arimo"/>
              </a:rPr>
              <a:t>  </a:t>
            </a:r>
          </a:p>
        </p:txBody>
      </p:sp>
      <p:sp>
        <p:nvSpPr>
          <p:cNvPr name="TextBox 11" id="11"/>
          <p:cNvSpPr txBox="true"/>
          <p:nvPr/>
        </p:nvSpPr>
        <p:spPr>
          <a:xfrm rot="0">
            <a:off x="1618488" y="6675634"/>
            <a:ext cx="1867586" cy="388906"/>
          </a:xfrm>
          <a:prstGeom prst="rect">
            <a:avLst/>
          </a:prstGeom>
        </p:spPr>
        <p:txBody>
          <a:bodyPr anchor="t" rtlCol="false" tIns="0" lIns="0" bIns="0" rIns="0">
            <a:spAutoFit/>
          </a:bodyPr>
          <a:lstStyle/>
          <a:p>
            <a:pPr algn="l">
              <a:lnSpc>
                <a:spcPts val="1512"/>
              </a:lnSpc>
            </a:pPr>
            <a:r>
              <a:rPr lang="en-US" sz="1317" spc="-5">
                <a:solidFill>
                  <a:srgbClr val="000000"/>
                </a:solidFill>
                <a:latin typeface="IBM Plex Sans Condensed"/>
                <a:ea typeface="IBM Plex Sans Condensed"/>
                <a:cs typeface="IBM Plex Sans Condensed"/>
                <a:sym typeface="IBM Plex Sans Condensed"/>
              </a:rPr>
              <a:t>Low-stock detection Automatic alert generation </a:t>
            </a:r>
          </a:p>
        </p:txBody>
      </p:sp>
      <p:sp>
        <p:nvSpPr>
          <p:cNvPr name="TextBox 12" id="12"/>
          <p:cNvSpPr txBox="true"/>
          <p:nvPr/>
        </p:nvSpPr>
        <p:spPr>
          <a:xfrm rot="0">
            <a:off x="1618488" y="1247146"/>
            <a:ext cx="1927308" cy="1926622"/>
          </a:xfrm>
          <a:prstGeom prst="rect">
            <a:avLst/>
          </a:prstGeom>
        </p:spPr>
        <p:txBody>
          <a:bodyPr anchor="t" rtlCol="false" tIns="0" lIns="0" bIns="0" rIns="0">
            <a:spAutoFit/>
          </a:bodyPr>
          <a:lstStyle/>
          <a:p>
            <a:pPr algn="l">
              <a:lnSpc>
                <a:spcPts val="1512"/>
              </a:lnSpc>
            </a:pPr>
            <a:r>
              <a:rPr lang="en-US" sz="1317" spc="-5">
                <a:solidFill>
                  <a:srgbClr val="000000"/>
                </a:solidFill>
                <a:latin typeface="IBM Plex Sans Condensed"/>
                <a:ea typeface="IBM Plex Sans Condensed"/>
                <a:cs typeface="IBM Plex Sans Condensed"/>
                <a:sym typeface="IBM Plex Sans Condensed"/>
              </a:rPr>
              <a:t>IntelliJ IDEA HTML, CSS, JavaScript Java Spring Boot REST API JWT BCrypt Role-Based Access Control MySQL Maven </a:t>
            </a:r>
          </a:p>
        </p:txBody>
      </p:sp>
      <p:sp>
        <p:nvSpPr>
          <p:cNvPr name="TextBox 13" id="13"/>
          <p:cNvSpPr txBox="true"/>
          <p:nvPr/>
        </p:nvSpPr>
        <p:spPr>
          <a:xfrm rot="0">
            <a:off x="1618488" y="4468882"/>
            <a:ext cx="2006394" cy="580930"/>
          </a:xfrm>
          <a:prstGeom prst="rect">
            <a:avLst/>
          </a:prstGeom>
        </p:spPr>
        <p:txBody>
          <a:bodyPr anchor="t" rtlCol="false" tIns="0" lIns="0" bIns="0" rIns="0">
            <a:spAutoFit/>
          </a:bodyPr>
          <a:lstStyle/>
          <a:p>
            <a:pPr algn="just">
              <a:lnSpc>
                <a:spcPts val="1512"/>
              </a:lnSpc>
            </a:pPr>
            <a:r>
              <a:rPr lang="en-US" sz="1317" spc="-5">
                <a:solidFill>
                  <a:srgbClr val="000000"/>
                </a:solidFill>
                <a:latin typeface="IBM Plex Sans Condensed"/>
                <a:ea typeface="IBM Plex Sans Condensed"/>
                <a:cs typeface="IBM Plex Sans Condensed"/>
                <a:sym typeface="IBM Plex Sans Condensed"/>
              </a:rPr>
              <a:t>Secure login and registration JWT-based authentication Role-based access control </a:t>
            </a:r>
          </a:p>
        </p:txBody>
      </p:sp>
      <p:sp>
        <p:nvSpPr>
          <p:cNvPr name="TextBox 14" id="14"/>
          <p:cNvSpPr txBox="true"/>
          <p:nvPr/>
        </p:nvSpPr>
        <p:spPr>
          <a:xfrm rot="0">
            <a:off x="1618488" y="7586986"/>
            <a:ext cx="2355894" cy="580930"/>
          </a:xfrm>
          <a:prstGeom prst="rect">
            <a:avLst/>
          </a:prstGeom>
        </p:spPr>
        <p:txBody>
          <a:bodyPr anchor="t" rtlCol="false" tIns="0" lIns="0" bIns="0" rIns="0">
            <a:spAutoFit/>
          </a:bodyPr>
          <a:lstStyle/>
          <a:p>
            <a:pPr algn="l">
              <a:lnSpc>
                <a:spcPts val="1512"/>
              </a:lnSpc>
            </a:pPr>
            <a:r>
              <a:rPr lang="en-US" sz="1317" spc="-5">
                <a:solidFill>
                  <a:srgbClr val="000000"/>
                </a:solidFill>
                <a:latin typeface="IBM Plex Sans Condensed"/>
                <a:ea typeface="IBM Plex Sans Condensed"/>
                <a:cs typeface="IBM Plex Sans Condensed"/>
                <a:sym typeface="IBM Plex Sans Condensed"/>
              </a:rPr>
              <a:t>Recording stock movements Maintaining transaction history Supporting auditing and reporting </a:t>
            </a:r>
          </a:p>
        </p:txBody>
      </p:sp>
      <p:sp>
        <p:nvSpPr>
          <p:cNvPr name="TextBox 15" id="15"/>
          <p:cNvSpPr txBox="true"/>
          <p:nvPr/>
        </p:nvSpPr>
        <p:spPr>
          <a:xfrm rot="0">
            <a:off x="1618488" y="5572258"/>
            <a:ext cx="2337149" cy="580930"/>
          </a:xfrm>
          <a:prstGeom prst="rect">
            <a:avLst/>
          </a:prstGeom>
        </p:spPr>
        <p:txBody>
          <a:bodyPr anchor="t" rtlCol="false" tIns="0" lIns="0" bIns="0" rIns="0">
            <a:spAutoFit/>
          </a:bodyPr>
          <a:lstStyle/>
          <a:p>
            <a:pPr algn="l">
              <a:lnSpc>
                <a:spcPts val="1512"/>
              </a:lnSpc>
            </a:pPr>
            <a:r>
              <a:rPr lang="en-US" sz="1317" spc="-5">
                <a:solidFill>
                  <a:srgbClr val="000000"/>
                </a:solidFill>
                <a:latin typeface="IBM Plex Sans Condensed"/>
                <a:ea typeface="IBM Plex Sans Condensed"/>
                <a:cs typeface="IBM Plex Sans Condensed"/>
                <a:sym typeface="IBM Plex Sans Condensed"/>
              </a:rPr>
              <a:t>Product management Stock-in and stock-out operations Duplicate product prevention </a:t>
            </a:r>
          </a:p>
        </p:txBody>
      </p:sp>
      <p:sp>
        <p:nvSpPr>
          <p:cNvPr name="TextBox 16" id="16"/>
          <p:cNvSpPr txBox="true"/>
          <p:nvPr/>
        </p:nvSpPr>
        <p:spPr>
          <a:xfrm rot="0">
            <a:off x="1618488" y="8690362"/>
            <a:ext cx="2797312" cy="388906"/>
          </a:xfrm>
          <a:prstGeom prst="rect">
            <a:avLst/>
          </a:prstGeom>
        </p:spPr>
        <p:txBody>
          <a:bodyPr anchor="t" rtlCol="false" tIns="0" lIns="0" bIns="0" rIns="0">
            <a:spAutoFit/>
          </a:bodyPr>
          <a:lstStyle/>
          <a:p>
            <a:pPr algn="l">
              <a:lnSpc>
                <a:spcPts val="1512"/>
              </a:lnSpc>
            </a:pPr>
            <a:r>
              <a:rPr lang="en-US" sz="1317" spc="-5">
                <a:solidFill>
                  <a:srgbClr val="000000"/>
                </a:solidFill>
                <a:latin typeface="IBM Plex Sans Condensed"/>
                <a:ea typeface="IBM Plex Sans Condensed"/>
                <a:cs typeface="IBM Plex Sans Condensed"/>
                <a:sym typeface="IBM Plex Sans Condensed"/>
              </a:rPr>
              <a:t>Generating stock and transaction reports Applying basic filters </a:t>
            </a:r>
          </a:p>
        </p:txBody>
      </p:sp>
      <p:sp>
        <p:nvSpPr>
          <p:cNvPr name="TextBox 17" id="17"/>
          <p:cNvSpPr txBox="true"/>
          <p:nvPr/>
        </p:nvSpPr>
        <p:spPr>
          <a:xfrm rot="0">
            <a:off x="1188720" y="6268345"/>
            <a:ext cx="2034292" cy="244507"/>
          </a:xfrm>
          <a:prstGeom prst="rect">
            <a:avLst/>
          </a:prstGeom>
        </p:spPr>
        <p:txBody>
          <a:bodyPr anchor="t" rtlCol="false" tIns="0" lIns="0" bIns="0" rIns="0">
            <a:spAutoFit/>
          </a:bodyPr>
          <a:lstStyle/>
          <a:p>
            <a:pPr algn="l">
              <a:lnSpc>
                <a:spcPts val="1844"/>
              </a:lnSpc>
            </a:pPr>
            <a:r>
              <a:rPr lang="en-US" sz="1317">
                <a:solidFill>
                  <a:srgbClr val="000000"/>
                </a:solidFill>
                <a:latin typeface="Arimo"/>
                <a:ea typeface="Arimo"/>
                <a:cs typeface="Arimo"/>
                <a:sym typeface="Arimo"/>
              </a:rPr>
              <a:t>Module 3: Inventory Alerts </a:t>
            </a:r>
          </a:p>
        </p:txBody>
      </p:sp>
      <p:sp>
        <p:nvSpPr>
          <p:cNvPr name="TextBox 18" id="18"/>
          <p:cNvSpPr txBox="true"/>
          <p:nvPr/>
        </p:nvSpPr>
        <p:spPr>
          <a:xfrm rot="0">
            <a:off x="1188720" y="8283073"/>
            <a:ext cx="2314794" cy="244507"/>
          </a:xfrm>
          <a:prstGeom prst="rect">
            <a:avLst/>
          </a:prstGeom>
        </p:spPr>
        <p:txBody>
          <a:bodyPr anchor="t" rtlCol="false" tIns="0" lIns="0" bIns="0" rIns="0">
            <a:spAutoFit/>
          </a:bodyPr>
          <a:lstStyle/>
          <a:p>
            <a:pPr algn="l">
              <a:lnSpc>
                <a:spcPts val="1844"/>
              </a:lnSpc>
            </a:pPr>
            <a:r>
              <a:rPr lang="en-US" sz="1317">
                <a:solidFill>
                  <a:srgbClr val="000000"/>
                </a:solidFill>
                <a:latin typeface="Arimo"/>
                <a:ea typeface="Arimo"/>
                <a:cs typeface="Arimo"/>
                <a:sym typeface="Arimo"/>
              </a:rPr>
              <a:t>Module 5: Reports &amp; Analytics </a:t>
            </a:r>
          </a:p>
        </p:txBody>
      </p:sp>
      <p:sp>
        <p:nvSpPr>
          <p:cNvPr name="TextBox 19" id="19"/>
          <p:cNvSpPr txBox="true"/>
          <p:nvPr/>
        </p:nvSpPr>
        <p:spPr>
          <a:xfrm rot="0">
            <a:off x="1188720" y="5164969"/>
            <a:ext cx="2544994" cy="244507"/>
          </a:xfrm>
          <a:prstGeom prst="rect">
            <a:avLst/>
          </a:prstGeom>
        </p:spPr>
        <p:txBody>
          <a:bodyPr anchor="t" rtlCol="false" tIns="0" lIns="0" bIns="0" rIns="0">
            <a:spAutoFit/>
          </a:bodyPr>
          <a:lstStyle/>
          <a:p>
            <a:pPr algn="l">
              <a:lnSpc>
                <a:spcPts val="1844"/>
              </a:lnSpc>
            </a:pPr>
            <a:r>
              <a:rPr lang="en-US" sz="1317">
                <a:solidFill>
                  <a:srgbClr val="000000"/>
                </a:solidFill>
                <a:latin typeface="Arimo"/>
                <a:ea typeface="Arimo"/>
                <a:cs typeface="Arimo"/>
                <a:sym typeface="Arimo"/>
              </a:rPr>
              <a:t>Module 2: Inventory Management </a:t>
            </a:r>
          </a:p>
        </p:txBody>
      </p:sp>
      <p:sp>
        <p:nvSpPr>
          <p:cNvPr name="TextBox 20" id="20"/>
          <p:cNvSpPr txBox="true"/>
          <p:nvPr/>
        </p:nvSpPr>
        <p:spPr>
          <a:xfrm rot="0">
            <a:off x="1188720" y="7179697"/>
            <a:ext cx="2708662" cy="244507"/>
          </a:xfrm>
          <a:prstGeom prst="rect">
            <a:avLst/>
          </a:prstGeom>
        </p:spPr>
        <p:txBody>
          <a:bodyPr anchor="t" rtlCol="false" tIns="0" lIns="0" bIns="0" rIns="0">
            <a:spAutoFit/>
          </a:bodyPr>
          <a:lstStyle/>
          <a:p>
            <a:pPr algn="l">
              <a:lnSpc>
                <a:spcPts val="1844"/>
              </a:lnSpc>
            </a:pPr>
            <a:r>
              <a:rPr lang="en-US" sz="1317">
                <a:solidFill>
                  <a:srgbClr val="000000"/>
                </a:solidFill>
                <a:latin typeface="Arimo"/>
                <a:ea typeface="Arimo"/>
                <a:cs typeface="Arimo"/>
                <a:sym typeface="Arimo"/>
              </a:rPr>
              <a:t>Module 4: Transaction Management </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52193" y="223009"/>
            <a:ext cx="6660385" cy="9604753"/>
          </a:xfrm>
          <a:custGeom>
            <a:avLst/>
            <a:gdLst/>
            <a:ahLst/>
            <a:cxnLst/>
            <a:rect r="r" b="b" t="t" l="l"/>
            <a:pathLst>
              <a:path h="9604753" w="6660385">
                <a:moveTo>
                  <a:pt x="0" y="0"/>
                </a:moveTo>
                <a:lnTo>
                  <a:pt x="6660385" y="0"/>
                </a:lnTo>
                <a:lnTo>
                  <a:pt x="6660385" y="9604753"/>
                </a:lnTo>
                <a:lnTo>
                  <a:pt x="0" y="96047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403604" y="858603"/>
            <a:ext cx="55559" cy="181261"/>
          </a:xfrm>
          <a:prstGeom prst="rect">
            <a:avLst/>
          </a:prstGeom>
        </p:spPr>
        <p:txBody>
          <a:bodyPr anchor="t" rtlCol="false" tIns="0" lIns="0" bIns="0" rIns="0">
            <a:spAutoFit/>
          </a:bodyPr>
          <a:lstStyle/>
          <a:p>
            <a:pPr algn="l">
              <a:lnSpc>
                <a:spcPts val="1308"/>
              </a:lnSpc>
            </a:pPr>
            <a:r>
              <a:rPr lang="en-US" sz="934">
                <a:solidFill>
                  <a:srgbClr val="000000"/>
                </a:solidFill>
                <a:latin typeface="Arimo"/>
                <a:ea typeface="Arimo"/>
                <a:cs typeface="Arimo"/>
                <a:sym typeface="Arimo"/>
              </a:rPr>
              <a:t></a:t>
            </a:r>
          </a:p>
        </p:txBody>
      </p:sp>
      <p:sp>
        <p:nvSpPr>
          <p:cNvPr name="TextBox 4" id="4"/>
          <p:cNvSpPr txBox="true"/>
          <p:nvPr/>
        </p:nvSpPr>
        <p:spPr>
          <a:xfrm rot="0">
            <a:off x="1618488" y="831475"/>
            <a:ext cx="1963588" cy="225457"/>
          </a:xfrm>
          <a:prstGeom prst="rect">
            <a:avLst/>
          </a:prstGeom>
        </p:spPr>
        <p:txBody>
          <a:bodyPr anchor="t" rtlCol="false" tIns="0" lIns="0" bIns="0" rIns="0">
            <a:spAutoFit/>
          </a:bodyPr>
          <a:lstStyle/>
          <a:p>
            <a:pPr algn="l">
              <a:lnSpc>
                <a:spcPts val="1844"/>
              </a:lnSpc>
            </a:pPr>
            <a:r>
              <a:rPr lang="en-US" sz="1317" spc="-5">
                <a:solidFill>
                  <a:srgbClr val="000000"/>
                </a:solidFill>
                <a:latin typeface="IBM Plex Sans Condensed"/>
                <a:ea typeface="IBM Plex Sans Condensed"/>
                <a:cs typeface="IBM Plex Sans Condensed"/>
                <a:sym typeface="IBM Plex Sans Condensed"/>
              </a:rPr>
              <a:t>Supporting decision making </a:t>
            </a:r>
          </a:p>
        </p:txBody>
      </p:sp>
      <p:sp>
        <p:nvSpPr>
          <p:cNvPr name="TextBox 5" id="5"/>
          <p:cNvSpPr txBox="true"/>
          <p:nvPr/>
        </p:nvSpPr>
        <p:spPr>
          <a:xfrm rot="0">
            <a:off x="1908048" y="2769622"/>
            <a:ext cx="2194017" cy="2211610"/>
          </a:xfrm>
          <a:prstGeom prst="rect">
            <a:avLst/>
          </a:prstGeom>
        </p:spPr>
        <p:txBody>
          <a:bodyPr anchor="t" rtlCol="false" tIns="0" lIns="0" bIns="0" rIns="0">
            <a:spAutoFit/>
          </a:bodyPr>
          <a:lstStyle/>
          <a:p>
            <a:pPr algn="l">
              <a:lnSpc>
                <a:spcPts val="1512"/>
              </a:lnSpc>
            </a:pPr>
            <a:r>
              <a:rPr lang="en-US" sz="1317" spc="-5">
                <a:solidFill>
                  <a:srgbClr val="000000"/>
                </a:solidFill>
                <a:latin typeface="IBM Plex Sans Condensed"/>
                <a:ea typeface="IBM Plex Sans Condensed"/>
                <a:cs typeface="IBM Plex Sans Condensed"/>
                <a:sym typeface="IBM Plex Sans Condensed"/>
              </a:rPr>
              <a:t>Project kickoff, team introduction, understanding inventory management challenges, and defining problem statement and objectives. </a:t>
            </a:r>
          </a:p>
          <a:p>
            <a:pPr algn="l">
              <a:lnSpc>
                <a:spcPts val="2975"/>
              </a:lnSpc>
            </a:pPr>
            <a:r>
              <a:rPr lang="en-US" sz="1317" spc="-5">
                <a:solidFill>
                  <a:srgbClr val="000000"/>
                </a:solidFill>
                <a:latin typeface="IBM Plex Sans Condensed"/>
                <a:ea typeface="IBM Plex Sans Condensed"/>
                <a:cs typeface="IBM Plex Sans Condensed"/>
                <a:sym typeface="IBM Plex Sans Condensed"/>
              </a:rPr>
              <a:t>Requirement analysis and </a:t>
            </a:r>
          </a:p>
          <a:p>
            <a:pPr algn="l">
              <a:lnSpc>
                <a:spcPts val="658"/>
              </a:lnSpc>
            </a:pPr>
            <a:r>
              <a:rPr lang="en-US" sz="1317" spc="-5">
                <a:solidFill>
                  <a:srgbClr val="000000"/>
                </a:solidFill>
                <a:latin typeface="IBM Plex Sans Condensed"/>
                <a:ea typeface="IBM Plex Sans Condensed"/>
                <a:cs typeface="IBM Plex Sans Condensed"/>
                <a:sym typeface="IBM Plex Sans Condensed"/>
              </a:rPr>
              <a:t>system design planning, </a:t>
            </a:r>
          </a:p>
          <a:p>
            <a:pPr algn="l">
              <a:lnSpc>
                <a:spcPts val="2365"/>
              </a:lnSpc>
            </a:pPr>
            <a:r>
              <a:rPr lang="en-US" sz="1317" spc="-5">
                <a:solidFill>
                  <a:srgbClr val="000000"/>
                </a:solidFill>
                <a:latin typeface="IBM Plex Sans Condensed"/>
                <a:ea typeface="IBM Plex Sans Condensed"/>
                <a:cs typeface="IBM Plex Sans Condensed"/>
                <a:sym typeface="IBM Plex Sans Condensed"/>
              </a:rPr>
              <a:t>including module identification </a:t>
            </a:r>
          </a:p>
          <a:p>
            <a:pPr algn="l">
              <a:lnSpc>
                <a:spcPts val="658"/>
              </a:lnSpc>
            </a:pPr>
            <a:r>
              <a:rPr lang="en-US" sz="1317" spc="-5">
                <a:solidFill>
                  <a:srgbClr val="000000"/>
                </a:solidFill>
                <a:latin typeface="IBM Plex Sans Condensed"/>
                <a:ea typeface="IBM Plex Sans Condensed"/>
                <a:cs typeface="IBM Plex Sans Condensed"/>
                <a:sym typeface="IBM Plex Sans Condensed"/>
              </a:rPr>
              <a:t>and technology stack </a:t>
            </a:r>
          </a:p>
          <a:p>
            <a:pPr algn="l">
              <a:lnSpc>
                <a:spcPts val="2389"/>
              </a:lnSpc>
            </a:pPr>
            <a:r>
              <a:rPr lang="en-US" sz="1317" spc="-5">
                <a:solidFill>
                  <a:srgbClr val="000000"/>
                </a:solidFill>
                <a:latin typeface="IBM Plex Sans Condensed"/>
                <a:ea typeface="IBM Plex Sans Condensed"/>
                <a:cs typeface="IBM Plex Sans Condensed"/>
                <a:sym typeface="IBM Plex Sans Condensed"/>
              </a:rPr>
              <a:t>finalization. </a:t>
            </a:r>
          </a:p>
        </p:txBody>
      </p:sp>
      <p:sp>
        <p:nvSpPr>
          <p:cNvPr name="TextBox 6" id="6"/>
          <p:cNvSpPr txBox="true"/>
          <p:nvPr/>
        </p:nvSpPr>
        <p:spPr>
          <a:xfrm rot="0">
            <a:off x="4200144" y="2998222"/>
            <a:ext cx="2651665" cy="774478"/>
          </a:xfrm>
          <a:prstGeom prst="rect">
            <a:avLst/>
          </a:prstGeom>
        </p:spPr>
        <p:txBody>
          <a:bodyPr anchor="t" rtlCol="false" tIns="0" lIns="0" bIns="0" rIns="0">
            <a:spAutoFit/>
          </a:bodyPr>
          <a:lstStyle/>
          <a:p>
            <a:pPr algn="l">
              <a:lnSpc>
                <a:spcPts val="1517"/>
              </a:lnSpc>
            </a:pPr>
            <a:r>
              <a:rPr lang="en-US" sz="1317" spc="-5">
                <a:solidFill>
                  <a:srgbClr val="000000"/>
                </a:solidFill>
                <a:latin typeface="IBM Plex Sans Condensed"/>
                <a:ea typeface="IBM Plex Sans Condensed"/>
                <a:cs typeface="IBM Plex Sans Condensed"/>
                <a:sym typeface="IBM Plex Sans Condensed"/>
              </a:rPr>
              <a:t>Conducted project initiation meeting, finalized project scope and objectives, and studied existing inventory management systems and workflows. </a:t>
            </a:r>
          </a:p>
        </p:txBody>
      </p:sp>
      <p:sp>
        <p:nvSpPr>
          <p:cNvPr name="TextBox 7" id="7"/>
          <p:cNvSpPr txBox="true"/>
          <p:nvPr/>
        </p:nvSpPr>
        <p:spPr>
          <a:xfrm rot="0">
            <a:off x="4200144" y="3810133"/>
            <a:ext cx="2834516" cy="4807363"/>
          </a:xfrm>
          <a:prstGeom prst="rect">
            <a:avLst/>
          </a:prstGeom>
        </p:spPr>
        <p:txBody>
          <a:bodyPr anchor="t" rtlCol="false" tIns="0" lIns="0" bIns="0" rIns="0">
            <a:spAutoFit/>
          </a:bodyPr>
          <a:lstStyle/>
          <a:p>
            <a:pPr algn="just">
              <a:lnSpc>
                <a:spcPts val="3293"/>
              </a:lnSpc>
            </a:pPr>
            <a:r>
              <a:rPr lang="en-US" sz="1317" spc="-5">
                <a:solidFill>
                  <a:srgbClr val="000000"/>
                </a:solidFill>
                <a:latin typeface="IBM Plex Sans Condensed"/>
                <a:ea typeface="IBM Plex Sans Condensed"/>
                <a:cs typeface="IBM Plex Sans Condensed"/>
                <a:sym typeface="IBM Plex Sans Condensed"/>
              </a:rPr>
              <a:t>Identified core modules (Authentication, </a:t>
            </a:r>
          </a:p>
          <a:p>
            <a:pPr algn="just">
              <a:lnSpc>
                <a:spcPts val="658"/>
              </a:lnSpc>
            </a:pPr>
            <a:r>
              <a:rPr lang="en-US" sz="1317" spc="-5">
                <a:solidFill>
                  <a:srgbClr val="000000"/>
                </a:solidFill>
                <a:latin typeface="IBM Plex Sans Condensed"/>
                <a:ea typeface="IBM Plex Sans Condensed"/>
                <a:cs typeface="IBM Plex Sans Condensed"/>
                <a:sym typeface="IBM Plex Sans Condensed"/>
              </a:rPr>
              <a:t>Inventory Management, Alerts, </a:t>
            </a:r>
          </a:p>
          <a:p>
            <a:pPr algn="just">
              <a:lnSpc>
                <a:spcPts val="2365"/>
              </a:lnSpc>
            </a:pPr>
            <a:r>
              <a:rPr lang="en-US" sz="1317" spc="-5">
                <a:solidFill>
                  <a:srgbClr val="000000"/>
                </a:solidFill>
                <a:latin typeface="IBM Plex Sans Condensed"/>
                <a:ea typeface="IBM Plex Sans Condensed"/>
                <a:cs typeface="IBM Plex Sans Condensed"/>
                <a:sym typeface="IBM Plex Sans Condensed"/>
              </a:rPr>
              <a:t>Reports), finalized technology stack, and </a:t>
            </a:r>
          </a:p>
          <a:p>
            <a:pPr algn="just">
              <a:lnSpc>
                <a:spcPts val="682"/>
              </a:lnSpc>
            </a:pPr>
            <a:r>
              <a:rPr lang="en-US" sz="1317" spc="-5">
                <a:solidFill>
                  <a:srgbClr val="000000"/>
                </a:solidFill>
                <a:latin typeface="IBM Plex Sans Condensed"/>
                <a:ea typeface="IBM Plex Sans Condensed"/>
                <a:cs typeface="IBM Plex Sans Condensed"/>
                <a:sym typeface="IBM Plex Sans Condensed"/>
              </a:rPr>
              <a:t>prepared system architecture and </a:t>
            </a:r>
          </a:p>
          <a:p>
            <a:pPr algn="just">
              <a:lnSpc>
                <a:spcPts val="2340"/>
              </a:lnSpc>
            </a:pPr>
            <a:r>
              <a:rPr lang="en-US" sz="1317" spc="-5">
                <a:solidFill>
                  <a:srgbClr val="000000"/>
                </a:solidFill>
                <a:latin typeface="IBM Plex Sans Condensed"/>
                <a:ea typeface="IBM Plex Sans Condensed"/>
                <a:cs typeface="IBM Plex Sans Condensed"/>
                <a:sym typeface="IBM Plex Sans Condensed"/>
              </a:rPr>
              <a:t>database design plan. </a:t>
            </a:r>
          </a:p>
          <a:p>
            <a:pPr algn="just">
              <a:lnSpc>
                <a:spcPts val="2770"/>
              </a:lnSpc>
            </a:pPr>
            <a:r>
              <a:rPr lang="en-US" sz="1317" spc="-3">
                <a:solidFill>
                  <a:srgbClr val="000000"/>
                </a:solidFill>
                <a:latin typeface="IBM Plex Sans Condensed"/>
                <a:ea typeface="IBM Plex Sans Condensed"/>
                <a:cs typeface="IBM Plex Sans Condensed"/>
                <a:sym typeface="IBM Plex Sans Condensed"/>
              </a:rPr>
              <a:t>Designed MySQL database </a:t>
            </a:r>
          </a:p>
          <a:p>
            <a:pPr algn="just">
              <a:lnSpc>
                <a:spcPts val="745"/>
              </a:lnSpc>
            </a:pPr>
            <a:r>
              <a:rPr lang="en-US" sz="1317" spc="-5">
                <a:solidFill>
                  <a:srgbClr val="000000"/>
                </a:solidFill>
                <a:latin typeface="IBM Plex Sans Condensed"/>
                <a:ea typeface="IBM Plex Sans Condensed"/>
                <a:cs typeface="IBM Plex Sans Condensed"/>
                <a:sym typeface="IBM Plex Sans Condensed"/>
              </a:rPr>
              <a:t>schema, created entity relationships, and implemented JWT-based authentication with secure user login and role </a:t>
            </a:r>
          </a:p>
          <a:p>
            <a:pPr algn="just">
              <a:lnSpc>
                <a:spcPts val="2256"/>
              </a:lnSpc>
            </a:pPr>
            <a:r>
              <a:rPr lang="en-US" sz="1317" spc="-5">
                <a:solidFill>
                  <a:srgbClr val="000000"/>
                </a:solidFill>
                <a:latin typeface="IBM Plex Sans Condensed"/>
                <a:ea typeface="IBM Plex Sans Condensed"/>
                <a:cs typeface="IBM Plex Sans Condensed"/>
                <a:sym typeface="IBM Plex Sans Condensed"/>
              </a:rPr>
              <a:t>management. Implemented CRUD operations for </a:t>
            </a:r>
          </a:p>
          <a:p>
            <a:pPr algn="just">
              <a:lnSpc>
                <a:spcPts val="756"/>
              </a:lnSpc>
            </a:pPr>
            <a:r>
              <a:rPr lang="en-US" sz="1317" spc="-5">
                <a:solidFill>
                  <a:srgbClr val="000000"/>
                </a:solidFill>
                <a:latin typeface="IBM Plex Sans Condensed"/>
                <a:ea typeface="IBM Plex Sans Condensed"/>
                <a:cs typeface="IBM Plex Sans Condensed"/>
                <a:sym typeface="IBM Plex Sans Condensed"/>
              </a:rPr>
              <a:t>products and inventory using Spring Boot REST APIs and integrated them with the MySQL database. </a:t>
            </a:r>
          </a:p>
          <a:p>
            <a:pPr algn="just">
              <a:lnSpc>
                <a:spcPts val="3293"/>
              </a:lnSpc>
            </a:pPr>
            <a:r>
              <a:rPr lang="en-US" sz="1317" spc="-5">
                <a:solidFill>
                  <a:srgbClr val="000000"/>
                </a:solidFill>
                <a:latin typeface="IBM Plex Sans Condensed"/>
                <a:ea typeface="IBM Plex Sans Condensed"/>
                <a:cs typeface="IBM Plex Sans Condensed"/>
                <a:sym typeface="IBM Plex Sans Condensed"/>
              </a:rPr>
              <a:t>Developed stock threshold monitoring </a:t>
            </a:r>
          </a:p>
          <a:p>
            <a:pPr algn="just">
              <a:lnSpc>
                <a:spcPts val="658"/>
              </a:lnSpc>
            </a:pPr>
            <a:r>
              <a:rPr lang="en-US" sz="1317" spc="7">
                <a:solidFill>
                  <a:srgbClr val="000000"/>
                </a:solidFill>
                <a:latin typeface="IBM Plex Sans Condensed"/>
                <a:ea typeface="IBM Plex Sans Condensed"/>
                <a:cs typeface="IBM Plex Sans Condensed"/>
                <a:sym typeface="IBM Plex Sans Condensed"/>
              </a:rPr>
              <a:t>logic and implemented automated low- stock alert functionality. </a:t>
            </a:r>
          </a:p>
          <a:p>
            <a:pPr algn="just">
              <a:lnSpc>
                <a:spcPts val="3293"/>
              </a:lnSpc>
            </a:pPr>
            <a:r>
              <a:rPr lang="en-US" sz="1317" spc="-5">
                <a:solidFill>
                  <a:srgbClr val="000000"/>
                </a:solidFill>
                <a:latin typeface="IBM Plex Sans Condensed"/>
                <a:ea typeface="IBM Plex Sans Condensed"/>
                <a:cs typeface="IBM Plex Sans Condensed"/>
                <a:sym typeface="IBM Plex Sans Condensed"/>
              </a:rPr>
              <a:t>Implemented inventory summary and </a:t>
            </a:r>
          </a:p>
          <a:p>
            <a:pPr algn="just">
              <a:lnSpc>
                <a:spcPts val="658"/>
              </a:lnSpc>
            </a:pPr>
            <a:r>
              <a:rPr lang="en-US" sz="1317" spc="-5">
                <a:solidFill>
                  <a:srgbClr val="000000"/>
                </a:solidFill>
                <a:latin typeface="IBM Plex Sans Condensed"/>
                <a:ea typeface="IBM Plex Sans Condensed"/>
                <a:cs typeface="IBM Plex Sans Condensed"/>
                <a:sym typeface="IBM Plex Sans Condensed"/>
              </a:rPr>
              <a:t>product-wise reports and integrated backend APIs with frontend interfaces using HTML, CSS, and JavaScript. </a:t>
            </a:r>
          </a:p>
        </p:txBody>
      </p:sp>
      <p:sp>
        <p:nvSpPr>
          <p:cNvPr name="TextBox 8" id="8"/>
          <p:cNvSpPr txBox="true"/>
          <p:nvPr/>
        </p:nvSpPr>
        <p:spPr>
          <a:xfrm rot="0">
            <a:off x="1908048" y="5430526"/>
            <a:ext cx="1997164" cy="506254"/>
          </a:xfrm>
          <a:prstGeom prst="rect">
            <a:avLst/>
          </a:prstGeom>
        </p:spPr>
        <p:txBody>
          <a:bodyPr anchor="t" rtlCol="false" tIns="0" lIns="0" bIns="0" rIns="0">
            <a:spAutoFit/>
          </a:bodyPr>
          <a:lstStyle/>
          <a:p>
            <a:pPr algn="l">
              <a:lnSpc>
                <a:spcPts val="745"/>
              </a:lnSpc>
            </a:pPr>
            <a:r>
              <a:rPr lang="en-US" sz="1317" spc="-5">
                <a:solidFill>
                  <a:srgbClr val="000000"/>
                </a:solidFill>
                <a:latin typeface="IBM Plex Sans Condensed"/>
                <a:ea typeface="IBM Plex Sans Condensed"/>
                <a:cs typeface="IBM Plex Sans Condensed"/>
                <a:sym typeface="IBM Plex Sans Condensed"/>
              </a:rPr>
              <a:t>Database schema design and authentication module planning. </a:t>
            </a:r>
          </a:p>
        </p:txBody>
      </p:sp>
      <p:sp>
        <p:nvSpPr>
          <p:cNvPr name="TextBox 9" id="9"/>
          <p:cNvSpPr txBox="true"/>
          <p:nvPr/>
        </p:nvSpPr>
        <p:spPr>
          <a:xfrm rot="0">
            <a:off x="1908048" y="6486658"/>
            <a:ext cx="2257063" cy="504730"/>
          </a:xfrm>
          <a:prstGeom prst="rect">
            <a:avLst/>
          </a:prstGeom>
        </p:spPr>
        <p:txBody>
          <a:bodyPr anchor="t" rtlCol="false" tIns="0" lIns="0" bIns="0" rIns="0">
            <a:spAutoFit/>
          </a:bodyPr>
          <a:lstStyle/>
          <a:p>
            <a:pPr algn="l">
              <a:lnSpc>
                <a:spcPts val="756"/>
              </a:lnSpc>
            </a:pPr>
            <a:r>
              <a:rPr lang="en-US" sz="1317" spc="-5">
                <a:solidFill>
                  <a:srgbClr val="000000"/>
                </a:solidFill>
                <a:latin typeface="IBM Plex Sans Condensed"/>
                <a:ea typeface="IBM Plex Sans Condensed"/>
                <a:cs typeface="IBM Plex Sans Condensed"/>
                <a:sym typeface="IBM Plex Sans Condensed"/>
              </a:rPr>
              <a:t>Development of Product and Inventory Management modules with backend APIs. </a:t>
            </a:r>
          </a:p>
        </p:txBody>
      </p:sp>
      <p:sp>
        <p:nvSpPr>
          <p:cNvPr name="TextBox 10" id="10"/>
          <p:cNvSpPr txBox="true"/>
          <p:nvPr/>
        </p:nvSpPr>
        <p:spPr>
          <a:xfrm rot="0">
            <a:off x="1908048" y="7393819"/>
            <a:ext cx="2158032" cy="304705"/>
          </a:xfrm>
          <a:prstGeom prst="rect">
            <a:avLst/>
          </a:prstGeom>
        </p:spPr>
        <p:txBody>
          <a:bodyPr anchor="t" rtlCol="false" tIns="0" lIns="0" bIns="0" rIns="0">
            <a:spAutoFit/>
          </a:bodyPr>
          <a:lstStyle/>
          <a:p>
            <a:pPr algn="just">
              <a:lnSpc>
                <a:spcPts val="658"/>
              </a:lnSpc>
            </a:pPr>
            <a:r>
              <a:rPr lang="en-US" sz="1317" spc="-5">
                <a:solidFill>
                  <a:srgbClr val="000000"/>
                </a:solidFill>
                <a:latin typeface="IBM Plex Sans Condensed"/>
                <a:ea typeface="IBM Plex Sans Condensed"/>
                <a:cs typeface="IBM Plex Sans Condensed"/>
                <a:sym typeface="IBM Plex Sans Condensed"/>
              </a:rPr>
              <a:t>Inventory alert mechanism and </a:t>
            </a:r>
          </a:p>
          <a:p>
            <a:pPr algn="just">
              <a:lnSpc>
                <a:spcPts val="1429"/>
              </a:lnSpc>
            </a:pPr>
            <a:r>
              <a:rPr lang="en-US" sz="1317" spc="-5">
                <a:solidFill>
                  <a:srgbClr val="000000"/>
                </a:solidFill>
                <a:latin typeface="IBM Plex Sans Condensed"/>
                <a:ea typeface="IBM Plex Sans Condensed"/>
                <a:cs typeface="IBM Plex Sans Condensed"/>
                <a:sym typeface="IBM Plex Sans Condensed"/>
              </a:rPr>
              <a:t>business logic implementation. </a:t>
            </a:r>
          </a:p>
        </p:txBody>
      </p:sp>
      <p:sp>
        <p:nvSpPr>
          <p:cNvPr name="TextBox 11" id="11"/>
          <p:cNvSpPr txBox="true"/>
          <p:nvPr/>
        </p:nvSpPr>
        <p:spPr>
          <a:xfrm rot="0">
            <a:off x="1908048" y="8064379"/>
            <a:ext cx="2062029" cy="495205"/>
          </a:xfrm>
          <a:prstGeom prst="rect">
            <a:avLst/>
          </a:prstGeom>
        </p:spPr>
        <p:txBody>
          <a:bodyPr anchor="t" rtlCol="false" tIns="0" lIns="0" bIns="0" rIns="0">
            <a:spAutoFit/>
          </a:bodyPr>
          <a:lstStyle/>
          <a:p>
            <a:pPr algn="l">
              <a:lnSpc>
                <a:spcPts val="658"/>
              </a:lnSpc>
            </a:pPr>
            <a:r>
              <a:rPr lang="en-US" sz="1317" spc="-5">
                <a:solidFill>
                  <a:srgbClr val="000000"/>
                </a:solidFill>
                <a:latin typeface="IBM Plex Sans Condensed"/>
                <a:ea typeface="IBM Plex Sans Condensed"/>
                <a:cs typeface="IBM Plex Sans Condensed"/>
                <a:sym typeface="IBM Plex Sans Condensed"/>
              </a:rPr>
              <a:t>Reports and analytics module </a:t>
            </a:r>
          </a:p>
          <a:p>
            <a:pPr algn="l">
              <a:lnSpc>
                <a:spcPts val="1477"/>
              </a:lnSpc>
            </a:pPr>
            <a:r>
              <a:rPr lang="en-US" sz="1317" spc="-5">
                <a:solidFill>
                  <a:srgbClr val="000000"/>
                </a:solidFill>
                <a:latin typeface="IBM Plex Sans Condensed"/>
                <a:ea typeface="IBM Plex Sans Condensed"/>
                <a:cs typeface="IBM Plex Sans Condensed"/>
                <a:sym typeface="IBM Plex Sans Condensed"/>
              </a:rPr>
              <a:t>development and frontend integration planning. </a:t>
            </a:r>
          </a:p>
        </p:txBody>
      </p:sp>
      <p:sp>
        <p:nvSpPr>
          <p:cNvPr name="TextBox 12" id="12"/>
          <p:cNvSpPr txBox="true"/>
          <p:nvPr/>
        </p:nvSpPr>
        <p:spPr>
          <a:xfrm rot="0">
            <a:off x="1188720" y="1568853"/>
            <a:ext cx="1826447" cy="261899"/>
          </a:xfrm>
          <a:prstGeom prst="rect">
            <a:avLst/>
          </a:prstGeom>
        </p:spPr>
        <p:txBody>
          <a:bodyPr anchor="t" rtlCol="false" tIns="0" lIns="0" bIns="0" rIns="0">
            <a:spAutoFit/>
          </a:bodyPr>
          <a:lstStyle/>
          <a:p>
            <a:pPr algn="l">
              <a:lnSpc>
                <a:spcPts val="2096"/>
              </a:lnSpc>
            </a:pPr>
            <a:r>
              <a:rPr lang="en-US" sz="1497" spc="2">
                <a:solidFill>
                  <a:srgbClr val="4472C4"/>
                </a:solidFill>
                <a:latin typeface="Arimo"/>
                <a:ea typeface="Arimo"/>
                <a:cs typeface="Arimo"/>
                <a:sym typeface="Arimo"/>
              </a:rPr>
              <a:t>8. Timeline Overview </a:t>
            </a:r>
          </a:p>
        </p:txBody>
      </p:sp>
      <p:sp>
        <p:nvSpPr>
          <p:cNvPr name="TextBox 13" id="13"/>
          <p:cNvSpPr txBox="true"/>
          <p:nvPr/>
        </p:nvSpPr>
        <p:spPr>
          <a:xfrm rot="0">
            <a:off x="1013460" y="2426341"/>
            <a:ext cx="457962" cy="244507"/>
          </a:xfrm>
          <a:prstGeom prst="rect">
            <a:avLst/>
          </a:prstGeom>
        </p:spPr>
        <p:txBody>
          <a:bodyPr anchor="t" rtlCol="false" tIns="0" lIns="0" bIns="0" rIns="0">
            <a:spAutoFit/>
          </a:bodyPr>
          <a:lstStyle/>
          <a:p>
            <a:pPr algn="l">
              <a:lnSpc>
                <a:spcPts val="1844"/>
              </a:lnSpc>
            </a:pPr>
            <a:r>
              <a:rPr lang="en-US" sz="1317">
                <a:solidFill>
                  <a:srgbClr val="000000"/>
                </a:solidFill>
                <a:latin typeface="Arimo"/>
                <a:ea typeface="Arimo"/>
                <a:cs typeface="Arimo"/>
                <a:sym typeface="Arimo"/>
              </a:rPr>
              <a:t>Week </a:t>
            </a:r>
          </a:p>
        </p:txBody>
      </p:sp>
      <p:sp>
        <p:nvSpPr>
          <p:cNvPr name="TextBox 14" id="14"/>
          <p:cNvSpPr txBox="true"/>
          <p:nvPr/>
        </p:nvSpPr>
        <p:spPr>
          <a:xfrm rot="0">
            <a:off x="1013460" y="3159385"/>
            <a:ext cx="587654" cy="244507"/>
          </a:xfrm>
          <a:prstGeom prst="rect">
            <a:avLst/>
          </a:prstGeom>
        </p:spPr>
        <p:txBody>
          <a:bodyPr anchor="t" rtlCol="false" tIns="0" lIns="0" bIns="0" rIns="0">
            <a:spAutoFit/>
          </a:bodyPr>
          <a:lstStyle/>
          <a:p>
            <a:pPr algn="l">
              <a:lnSpc>
                <a:spcPts val="1844"/>
              </a:lnSpc>
            </a:pPr>
            <a:r>
              <a:rPr lang="en-US" sz="1317">
                <a:solidFill>
                  <a:srgbClr val="000000"/>
                </a:solidFill>
                <a:latin typeface="Arimo"/>
                <a:ea typeface="Arimo"/>
                <a:cs typeface="Arimo"/>
                <a:sym typeface="Arimo"/>
              </a:rPr>
              <a:t>Week 1 </a:t>
            </a:r>
          </a:p>
        </p:txBody>
      </p:sp>
      <p:sp>
        <p:nvSpPr>
          <p:cNvPr name="TextBox 15" id="15"/>
          <p:cNvSpPr txBox="true"/>
          <p:nvPr/>
        </p:nvSpPr>
        <p:spPr>
          <a:xfrm rot="0">
            <a:off x="1013460" y="4308481"/>
            <a:ext cx="587654" cy="244507"/>
          </a:xfrm>
          <a:prstGeom prst="rect">
            <a:avLst/>
          </a:prstGeom>
        </p:spPr>
        <p:txBody>
          <a:bodyPr anchor="t" rtlCol="false" tIns="0" lIns="0" bIns="0" rIns="0">
            <a:spAutoFit/>
          </a:bodyPr>
          <a:lstStyle/>
          <a:p>
            <a:pPr algn="l">
              <a:lnSpc>
                <a:spcPts val="1844"/>
              </a:lnSpc>
            </a:pPr>
            <a:r>
              <a:rPr lang="en-US" sz="1317">
                <a:solidFill>
                  <a:srgbClr val="000000"/>
                </a:solidFill>
                <a:latin typeface="Arimo"/>
                <a:ea typeface="Arimo"/>
                <a:cs typeface="Arimo"/>
                <a:sym typeface="Arimo"/>
              </a:rPr>
              <a:t>Week 2 </a:t>
            </a:r>
          </a:p>
        </p:txBody>
      </p:sp>
      <p:sp>
        <p:nvSpPr>
          <p:cNvPr name="TextBox 16" id="16"/>
          <p:cNvSpPr txBox="true"/>
          <p:nvPr/>
        </p:nvSpPr>
        <p:spPr>
          <a:xfrm rot="0">
            <a:off x="1013460" y="5539873"/>
            <a:ext cx="587654" cy="244507"/>
          </a:xfrm>
          <a:prstGeom prst="rect">
            <a:avLst/>
          </a:prstGeom>
        </p:spPr>
        <p:txBody>
          <a:bodyPr anchor="t" rtlCol="false" tIns="0" lIns="0" bIns="0" rIns="0">
            <a:spAutoFit/>
          </a:bodyPr>
          <a:lstStyle/>
          <a:p>
            <a:pPr algn="l">
              <a:lnSpc>
                <a:spcPts val="1844"/>
              </a:lnSpc>
            </a:pPr>
            <a:r>
              <a:rPr lang="en-US" sz="1317">
                <a:solidFill>
                  <a:srgbClr val="000000"/>
                </a:solidFill>
                <a:latin typeface="Arimo"/>
                <a:ea typeface="Arimo"/>
                <a:cs typeface="Arimo"/>
                <a:sym typeface="Arimo"/>
              </a:rPr>
              <a:t>Week 3 </a:t>
            </a:r>
          </a:p>
        </p:txBody>
      </p:sp>
      <p:sp>
        <p:nvSpPr>
          <p:cNvPr name="TextBox 17" id="17"/>
          <p:cNvSpPr txBox="true"/>
          <p:nvPr/>
        </p:nvSpPr>
        <p:spPr>
          <a:xfrm rot="0">
            <a:off x="1013460" y="6510661"/>
            <a:ext cx="587654" cy="244507"/>
          </a:xfrm>
          <a:prstGeom prst="rect">
            <a:avLst/>
          </a:prstGeom>
        </p:spPr>
        <p:txBody>
          <a:bodyPr anchor="t" rtlCol="false" tIns="0" lIns="0" bIns="0" rIns="0">
            <a:spAutoFit/>
          </a:bodyPr>
          <a:lstStyle/>
          <a:p>
            <a:pPr algn="l">
              <a:lnSpc>
                <a:spcPts val="1844"/>
              </a:lnSpc>
            </a:pPr>
            <a:r>
              <a:rPr lang="en-US" sz="1317">
                <a:solidFill>
                  <a:srgbClr val="000000"/>
                </a:solidFill>
                <a:latin typeface="Arimo"/>
                <a:ea typeface="Arimo"/>
                <a:cs typeface="Arimo"/>
                <a:sym typeface="Arimo"/>
              </a:rPr>
              <a:t>Week 4 </a:t>
            </a:r>
          </a:p>
        </p:txBody>
      </p:sp>
      <p:sp>
        <p:nvSpPr>
          <p:cNvPr name="TextBox 18" id="18"/>
          <p:cNvSpPr txBox="true"/>
          <p:nvPr/>
        </p:nvSpPr>
        <p:spPr>
          <a:xfrm rot="0">
            <a:off x="1013460" y="7356481"/>
            <a:ext cx="587654" cy="244507"/>
          </a:xfrm>
          <a:prstGeom prst="rect">
            <a:avLst/>
          </a:prstGeom>
        </p:spPr>
        <p:txBody>
          <a:bodyPr anchor="t" rtlCol="false" tIns="0" lIns="0" bIns="0" rIns="0">
            <a:spAutoFit/>
          </a:bodyPr>
          <a:lstStyle/>
          <a:p>
            <a:pPr algn="l">
              <a:lnSpc>
                <a:spcPts val="1844"/>
              </a:lnSpc>
            </a:pPr>
            <a:r>
              <a:rPr lang="en-US" sz="1317">
                <a:solidFill>
                  <a:srgbClr val="000000"/>
                </a:solidFill>
                <a:latin typeface="Arimo"/>
                <a:ea typeface="Arimo"/>
                <a:cs typeface="Arimo"/>
                <a:sym typeface="Arimo"/>
              </a:rPr>
              <a:t>Week 5 </a:t>
            </a:r>
          </a:p>
        </p:txBody>
      </p:sp>
      <p:sp>
        <p:nvSpPr>
          <p:cNvPr name="TextBox 19" id="19"/>
          <p:cNvSpPr txBox="true"/>
          <p:nvPr/>
        </p:nvSpPr>
        <p:spPr>
          <a:xfrm rot="0">
            <a:off x="1013460" y="8123053"/>
            <a:ext cx="587654" cy="244507"/>
          </a:xfrm>
          <a:prstGeom prst="rect">
            <a:avLst/>
          </a:prstGeom>
        </p:spPr>
        <p:txBody>
          <a:bodyPr anchor="t" rtlCol="false" tIns="0" lIns="0" bIns="0" rIns="0">
            <a:spAutoFit/>
          </a:bodyPr>
          <a:lstStyle/>
          <a:p>
            <a:pPr algn="l">
              <a:lnSpc>
                <a:spcPts val="1844"/>
              </a:lnSpc>
            </a:pPr>
            <a:r>
              <a:rPr lang="en-US" sz="1317">
                <a:solidFill>
                  <a:srgbClr val="000000"/>
                </a:solidFill>
                <a:latin typeface="Arimo"/>
                <a:ea typeface="Arimo"/>
                <a:cs typeface="Arimo"/>
                <a:sym typeface="Arimo"/>
              </a:rPr>
              <a:t>Week 6 </a:t>
            </a:r>
          </a:p>
        </p:txBody>
      </p:sp>
      <p:sp>
        <p:nvSpPr>
          <p:cNvPr name="TextBox 20" id="20"/>
          <p:cNvSpPr txBox="true"/>
          <p:nvPr/>
        </p:nvSpPr>
        <p:spPr>
          <a:xfrm rot="0">
            <a:off x="1907448" y="2426341"/>
            <a:ext cx="1363713" cy="244507"/>
          </a:xfrm>
          <a:prstGeom prst="rect">
            <a:avLst/>
          </a:prstGeom>
        </p:spPr>
        <p:txBody>
          <a:bodyPr anchor="t" rtlCol="false" tIns="0" lIns="0" bIns="0" rIns="0">
            <a:spAutoFit/>
          </a:bodyPr>
          <a:lstStyle/>
          <a:p>
            <a:pPr algn="l">
              <a:lnSpc>
                <a:spcPts val="1844"/>
              </a:lnSpc>
            </a:pPr>
            <a:r>
              <a:rPr lang="en-US" sz="1317">
                <a:solidFill>
                  <a:srgbClr val="000000"/>
                </a:solidFill>
                <a:latin typeface="Arimo"/>
                <a:ea typeface="Arimo"/>
                <a:cs typeface="Arimo"/>
                <a:sym typeface="Arimo"/>
              </a:rPr>
              <a:t>Activities Planned </a:t>
            </a:r>
          </a:p>
        </p:txBody>
      </p:sp>
      <p:sp>
        <p:nvSpPr>
          <p:cNvPr name="TextBox 21" id="21"/>
          <p:cNvSpPr txBox="true"/>
          <p:nvPr/>
        </p:nvSpPr>
        <p:spPr>
          <a:xfrm rot="0">
            <a:off x="4197982" y="2426341"/>
            <a:ext cx="1561767" cy="244507"/>
          </a:xfrm>
          <a:prstGeom prst="rect">
            <a:avLst/>
          </a:prstGeom>
        </p:spPr>
        <p:txBody>
          <a:bodyPr anchor="t" rtlCol="false" tIns="0" lIns="0" bIns="0" rIns="0">
            <a:spAutoFit/>
          </a:bodyPr>
          <a:lstStyle/>
          <a:p>
            <a:pPr algn="l">
              <a:lnSpc>
                <a:spcPts val="1844"/>
              </a:lnSpc>
            </a:pPr>
            <a:r>
              <a:rPr lang="en-US" sz="1317">
                <a:solidFill>
                  <a:srgbClr val="000000"/>
                </a:solidFill>
                <a:latin typeface="Arimo"/>
                <a:ea typeface="Arimo"/>
                <a:cs typeface="Arimo"/>
                <a:sym typeface="Arimo"/>
              </a:rPr>
              <a:t>Activities Completed </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52193" y="223009"/>
            <a:ext cx="6660385" cy="9604753"/>
          </a:xfrm>
          <a:custGeom>
            <a:avLst/>
            <a:gdLst/>
            <a:ahLst/>
            <a:cxnLst/>
            <a:rect r="r" b="b" t="t" l="l"/>
            <a:pathLst>
              <a:path h="9604753" w="6660385">
                <a:moveTo>
                  <a:pt x="0" y="0"/>
                </a:moveTo>
                <a:lnTo>
                  <a:pt x="6660385" y="0"/>
                </a:lnTo>
                <a:lnTo>
                  <a:pt x="6660385" y="9604753"/>
                </a:lnTo>
                <a:lnTo>
                  <a:pt x="0" y="96047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13460" y="1230001"/>
            <a:ext cx="587654" cy="244507"/>
          </a:xfrm>
          <a:prstGeom prst="rect">
            <a:avLst/>
          </a:prstGeom>
        </p:spPr>
        <p:txBody>
          <a:bodyPr anchor="t" rtlCol="false" tIns="0" lIns="0" bIns="0" rIns="0">
            <a:spAutoFit/>
          </a:bodyPr>
          <a:lstStyle/>
          <a:p>
            <a:pPr algn="l">
              <a:lnSpc>
                <a:spcPts val="1844"/>
              </a:lnSpc>
            </a:pPr>
            <a:r>
              <a:rPr lang="en-US" sz="1317">
                <a:solidFill>
                  <a:srgbClr val="000000"/>
                </a:solidFill>
                <a:latin typeface="Arimo"/>
                <a:ea typeface="Arimo"/>
                <a:cs typeface="Arimo"/>
                <a:sym typeface="Arimo"/>
              </a:rPr>
              <a:t>Week 7 </a:t>
            </a:r>
          </a:p>
        </p:txBody>
      </p:sp>
      <p:sp>
        <p:nvSpPr>
          <p:cNvPr name="TextBox 4" id="4"/>
          <p:cNvSpPr txBox="true"/>
          <p:nvPr/>
        </p:nvSpPr>
        <p:spPr>
          <a:xfrm rot="0">
            <a:off x="1013460" y="2107825"/>
            <a:ext cx="587654" cy="244507"/>
          </a:xfrm>
          <a:prstGeom prst="rect">
            <a:avLst/>
          </a:prstGeom>
        </p:spPr>
        <p:txBody>
          <a:bodyPr anchor="t" rtlCol="false" tIns="0" lIns="0" bIns="0" rIns="0">
            <a:spAutoFit/>
          </a:bodyPr>
          <a:lstStyle/>
          <a:p>
            <a:pPr algn="l">
              <a:lnSpc>
                <a:spcPts val="1844"/>
              </a:lnSpc>
            </a:pPr>
            <a:r>
              <a:rPr lang="en-US" sz="1317">
                <a:solidFill>
                  <a:srgbClr val="000000"/>
                </a:solidFill>
                <a:latin typeface="Arimo"/>
                <a:ea typeface="Arimo"/>
                <a:cs typeface="Arimo"/>
                <a:sym typeface="Arimo"/>
              </a:rPr>
              <a:t>Week 8 </a:t>
            </a:r>
          </a:p>
        </p:txBody>
      </p:sp>
      <p:sp>
        <p:nvSpPr>
          <p:cNvPr name="TextBox 5" id="5"/>
          <p:cNvSpPr txBox="true"/>
          <p:nvPr/>
        </p:nvSpPr>
        <p:spPr>
          <a:xfrm rot="0">
            <a:off x="1908048" y="1963426"/>
            <a:ext cx="2030740" cy="580930"/>
          </a:xfrm>
          <a:prstGeom prst="rect">
            <a:avLst/>
          </a:prstGeom>
        </p:spPr>
        <p:txBody>
          <a:bodyPr anchor="t" rtlCol="false" tIns="0" lIns="0" bIns="0" rIns="0">
            <a:spAutoFit/>
          </a:bodyPr>
          <a:lstStyle/>
          <a:p>
            <a:pPr algn="just">
              <a:lnSpc>
                <a:spcPts val="1512"/>
              </a:lnSpc>
            </a:pPr>
            <a:r>
              <a:rPr lang="en-US" sz="1317" spc="-5">
                <a:solidFill>
                  <a:srgbClr val="000000"/>
                </a:solidFill>
                <a:latin typeface="IBM Plex Sans Condensed"/>
                <a:ea typeface="IBM Plex Sans Condensed"/>
                <a:cs typeface="IBM Plex Sans Condensed"/>
                <a:sym typeface="IBM Plex Sans Condensed"/>
              </a:rPr>
              <a:t>Final testing, documentation, presentation preparation, and project demonstration. </a:t>
            </a:r>
          </a:p>
        </p:txBody>
      </p:sp>
      <p:sp>
        <p:nvSpPr>
          <p:cNvPr name="TextBox 6" id="6"/>
          <p:cNvSpPr txBox="true"/>
          <p:nvPr/>
        </p:nvSpPr>
        <p:spPr>
          <a:xfrm rot="0">
            <a:off x="1908048" y="1145038"/>
            <a:ext cx="2140172" cy="388906"/>
          </a:xfrm>
          <a:prstGeom prst="rect">
            <a:avLst/>
          </a:prstGeom>
        </p:spPr>
        <p:txBody>
          <a:bodyPr anchor="t" rtlCol="false" tIns="0" lIns="0" bIns="0" rIns="0">
            <a:spAutoFit/>
          </a:bodyPr>
          <a:lstStyle/>
          <a:p>
            <a:pPr algn="l">
              <a:lnSpc>
                <a:spcPts val="1512"/>
              </a:lnSpc>
            </a:pPr>
            <a:r>
              <a:rPr lang="en-US" sz="1317" spc="-5">
                <a:solidFill>
                  <a:srgbClr val="000000"/>
                </a:solidFill>
                <a:latin typeface="IBM Plex Sans Condensed"/>
                <a:ea typeface="IBM Plex Sans Condensed"/>
                <a:cs typeface="IBM Plex Sans Condensed"/>
                <a:sym typeface="IBM Plex Sans Condensed"/>
              </a:rPr>
              <a:t>Frontend development, system integration, and testing. </a:t>
            </a:r>
          </a:p>
        </p:txBody>
      </p:sp>
      <p:sp>
        <p:nvSpPr>
          <p:cNvPr name="TextBox 7" id="7"/>
          <p:cNvSpPr txBox="true"/>
          <p:nvPr/>
        </p:nvSpPr>
        <p:spPr>
          <a:xfrm rot="0">
            <a:off x="2394204" y="4563370"/>
            <a:ext cx="3714636" cy="2502694"/>
          </a:xfrm>
          <a:prstGeom prst="rect">
            <a:avLst/>
          </a:prstGeom>
        </p:spPr>
        <p:txBody>
          <a:bodyPr anchor="t" rtlCol="false" tIns="0" lIns="0" bIns="0" rIns="0">
            <a:spAutoFit/>
          </a:bodyPr>
          <a:lstStyle/>
          <a:p>
            <a:pPr algn="l">
              <a:lnSpc>
                <a:spcPts val="1512"/>
              </a:lnSpc>
            </a:pPr>
            <a:r>
              <a:rPr lang="en-US" sz="1317" spc="-5">
                <a:solidFill>
                  <a:srgbClr val="000000"/>
                </a:solidFill>
                <a:latin typeface="IBM Plex Sans Condensed"/>
                <a:ea typeface="IBM Plex Sans Condensed"/>
                <a:cs typeface="IBM Plex Sans Condensed"/>
                <a:sym typeface="IBM Plex Sans Condensed"/>
              </a:rPr>
              <a:t>Team formation, problem understanding, requirement analysis, and system architecture planning </a:t>
            </a:r>
          </a:p>
          <a:p>
            <a:pPr algn="l">
              <a:lnSpc>
                <a:spcPts val="2904"/>
              </a:lnSpc>
            </a:pPr>
            <a:r>
              <a:rPr lang="en-US" sz="1317" spc="-5">
                <a:solidFill>
                  <a:srgbClr val="000000"/>
                </a:solidFill>
                <a:latin typeface="IBM Plex Sans Condensed"/>
                <a:ea typeface="IBM Plex Sans Condensed"/>
                <a:cs typeface="IBM Plex Sans Condensed"/>
                <a:sym typeface="IBM Plex Sans Condensed"/>
              </a:rPr>
              <a:t>Identification of core modules, technology stack </a:t>
            </a:r>
          </a:p>
          <a:p>
            <a:pPr algn="l">
              <a:lnSpc>
                <a:spcPts val="658"/>
              </a:lnSpc>
            </a:pPr>
            <a:r>
              <a:rPr lang="en-US" sz="1317" spc="-5">
                <a:solidFill>
                  <a:srgbClr val="000000"/>
                </a:solidFill>
                <a:latin typeface="IBM Plex Sans Condensed"/>
                <a:ea typeface="IBM Plex Sans Condensed"/>
                <a:cs typeface="IBM Plex Sans Condensed"/>
                <a:sym typeface="IBM Plex Sans Condensed"/>
              </a:rPr>
              <a:t>finalization, and database schema design </a:t>
            </a:r>
          </a:p>
          <a:p>
            <a:pPr algn="l">
              <a:lnSpc>
                <a:spcPts val="3293"/>
              </a:lnSpc>
            </a:pPr>
            <a:r>
              <a:rPr lang="en-US" sz="1317" spc="-5">
                <a:solidFill>
                  <a:srgbClr val="000000"/>
                </a:solidFill>
                <a:latin typeface="IBM Plex Sans Condensed"/>
                <a:ea typeface="IBM Plex Sans Condensed"/>
                <a:cs typeface="IBM Plex Sans Condensed"/>
                <a:sym typeface="IBM Plex Sans Condensed"/>
              </a:rPr>
              <a:t>Implementation of authentication, product, and </a:t>
            </a:r>
          </a:p>
          <a:p>
            <a:pPr algn="l">
              <a:lnSpc>
                <a:spcPts val="658"/>
              </a:lnSpc>
            </a:pPr>
            <a:r>
              <a:rPr lang="en-US" sz="1317" spc="-5">
                <a:solidFill>
                  <a:srgbClr val="000000"/>
                </a:solidFill>
                <a:latin typeface="IBM Plex Sans Condensed"/>
                <a:ea typeface="IBM Plex Sans Condensed"/>
                <a:cs typeface="IBM Plex Sans Condensed"/>
                <a:sym typeface="IBM Plex Sans Condensed"/>
              </a:rPr>
              <a:t>inventory management modules </a:t>
            </a:r>
          </a:p>
          <a:p>
            <a:pPr algn="l">
              <a:lnSpc>
                <a:spcPts val="3293"/>
              </a:lnSpc>
            </a:pPr>
            <a:r>
              <a:rPr lang="en-US" sz="1317" spc="-5">
                <a:solidFill>
                  <a:srgbClr val="000000"/>
                </a:solidFill>
                <a:latin typeface="IBM Plex Sans Condensed"/>
                <a:ea typeface="IBM Plex Sans Condensed"/>
                <a:cs typeface="IBM Plex Sans Condensed"/>
                <a:sym typeface="IBM Plex Sans Condensed"/>
              </a:rPr>
              <a:t>Development of inventory alert mechanism and basic </a:t>
            </a:r>
          </a:p>
          <a:p>
            <a:pPr algn="l">
              <a:lnSpc>
                <a:spcPts val="658"/>
              </a:lnSpc>
            </a:pPr>
            <a:r>
              <a:rPr lang="en-US" sz="1317" spc="-5">
                <a:solidFill>
                  <a:srgbClr val="000000"/>
                </a:solidFill>
                <a:latin typeface="IBM Plex Sans Condensed"/>
                <a:ea typeface="IBM Plex Sans Condensed"/>
                <a:cs typeface="IBM Plex Sans Condensed"/>
                <a:sym typeface="IBM Plex Sans Condensed"/>
              </a:rPr>
              <a:t>reporting features </a:t>
            </a:r>
          </a:p>
          <a:p>
            <a:pPr algn="l">
              <a:lnSpc>
                <a:spcPts val="3293"/>
              </a:lnSpc>
            </a:pPr>
            <a:r>
              <a:rPr lang="en-US" sz="1317" spc="-5">
                <a:solidFill>
                  <a:srgbClr val="000000"/>
                </a:solidFill>
                <a:latin typeface="IBM Plex Sans Condensed"/>
                <a:ea typeface="IBM Plex Sans Condensed"/>
                <a:cs typeface="IBM Plex Sans Condensed"/>
                <a:sym typeface="IBM Plex Sans Condensed"/>
              </a:rPr>
              <a:t>Frontend integration, testing, documentation, </a:t>
            </a:r>
          </a:p>
          <a:p>
            <a:pPr algn="l">
              <a:lnSpc>
                <a:spcPts val="658"/>
              </a:lnSpc>
            </a:pPr>
            <a:r>
              <a:rPr lang="en-US" sz="1317" spc="-5">
                <a:solidFill>
                  <a:srgbClr val="000000"/>
                </a:solidFill>
                <a:latin typeface="IBM Plex Sans Condensed"/>
                <a:ea typeface="IBM Plex Sans Condensed"/>
                <a:cs typeface="IBM Plex Sans Condensed"/>
                <a:sym typeface="IBM Plex Sans Condensed"/>
              </a:rPr>
              <a:t>presentation, and final project demonstration </a:t>
            </a:r>
          </a:p>
        </p:txBody>
      </p:sp>
      <p:sp>
        <p:nvSpPr>
          <p:cNvPr name="TextBox 8" id="8"/>
          <p:cNvSpPr txBox="true"/>
          <p:nvPr/>
        </p:nvSpPr>
        <p:spPr>
          <a:xfrm rot="0">
            <a:off x="4200144" y="951490"/>
            <a:ext cx="2721921" cy="1827562"/>
          </a:xfrm>
          <a:prstGeom prst="rect">
            <a:avLst/>
          </a:prstGeom>
        </p:spPr>
        <p:txBody>
          <a:bodyPr anchor="t" rtlCol="false" tIns="0" lIns="0" bIns="0" rIns="0">
            <a:spAutoFit/>
          </a:bodyPr>
          <a:lstStyle/>
          <a:p>
            <a:pPr algn="l">
              <a:lnSpc>
                <a:spcPts val="1512"/>
              </a:lnSpc>
            </a:pPr>
            <a:r>
              <a:rPr lang="en-US" sz="1317" spc="-5">
                <a:solidFill>
                  <a:srgbClr val="000000"/>
                </a:solidFill>
                <a:latin typeface="IBM Plex Sans Condensed"/>
                <a:ea typeface="IBM Plex Sans Condensed"/>
                <a:cs typeface="IBM Plex Sans Condensed"/>
                <a:sym typeface="IBM Plex Sans Condensed"/>
              </a:rPr>
              <a:t>Completed frontend screens, integrated all modules, and performed unit and integration testing for APIs, database operations, and alerts. </a:t>
            </a:r>
          </a:p>
          <a:p>
            <a:pPr algn="l">
              <a:lnSpc>
                <a:spcPts val="3024"/>
              </a:lnSpc>
            </a:pPr>
            <a:r>
              <a:rPr lang="en-US" sz="1317" spc="-5">
                <a:solidFill>
                  <a:srgbClr val="000000"/>
                </a:solidFill>
                <a:latin typeface="IBM Plex Sans Condensed"/>
                <a:ea typeface="IBM Plex Sans Condensed"/>
                <a:cs typeface="IBM Plex Sans Condensed"/>
                <a:sym typeface="IBM Plex Sans Condensed"/>
              </a:rPr>
              <a:t>Completed system documentation, </a:t>
            </a:r>
          </a:p>
          <a:p>
            <a:pPr algn="l">
              <a:lnSpc>
                <a:spcPts val="658"/>
              </a:lnSpc>
            </a:pPr>
            <a:r>
              <a:rPr lang="en-US" sz="1317" spc="-5">
                <a:solidFill>
                  <a:srgbClr val="000000"/>
                </a:solidFill>
                <a:latin typeface="IBM Plex Sans Condensed"/>
                <a:ea typeface="IBM Plex Sans Condensed"/>
                <a:cs typeface="IBM Plex Sans Condensed"/>
                <a:sym typeface="IBM Plex Sans Condensed"/>
              </a:rPr>
              <a:t>prepared presentation slides, and </a:t>
            </a:r>
          </a:p>
          <a:p>
            <a:pPr algn="l">
              <a:lnSpc>
                <a:spcPts val="2365"/>
              </a:lnSpc>
            </a:pPr>
            <a:r>
              <a:rPr lang="en-US" sz="1317" spc="-5">
                <a:solidFill>
                  <a:srgbClr val="000000"/>
                </a:solidFill>
                <a:latin typeface="IBM Plex Sans Condensed"/>
                <a:ea typeface="IBM Plex Sans Condensed"/>
                <a:cs typeface="IBM Plex Sans Condensed"/>
                <a:sym typeface="IBM Plex Sans Condensed"/>
              </a:rPr>
              <a:t>delivered final demo showcasing end-</a:t>
            </a:r>
          </a:p>
          <a:p>
            <a:pPr algn="l">
              <a:lnSpc>
                <a:spcPts val="658"/>
              </a:lnSpc>
            </a:pPr>
            <a:r>
              <a:rPr lang="en-US" sz="1317" spc="-5">
                <a:solidFill>
                  <a:srgbClr val="000000"/>
                </a:solidFill>
                <a:latin typeface="IBM Plex Sans Condensed"/>
                <a:ea typeface="IBM Plex Sans Condensed"/>
                <a:cs typeface="IBM Plex Sans Condensed"/>
                <a:sym typeface="IBM Plex Sans Condensed"/>
              </a:rPr>
              <a:t>to-end workflow from login to </a:t>
            </a:r>
          </a:p>
          <a:p>
            <a:pPr algn="l">
              <a:lnSpc>
                <a:spcPts val="2365"/>
              </a:lnSpc>
            </a:pPr>
            <a:r>
              <a:rPr lang="en-US" sz="1317" spc="-5">
                <a:solidFill>
                  <a:srgbClr val="000000"/>
                </a:solidFill>
                <a:latin typeface="IBM Plex Sans Condensed"/>
                <a:ea typeface="IBM Plex Sans Condensed"/>
                <a:cs typeface="IBM Plex Sans Condensed"/>
                <a:sym typeface="IBM Plex Sans Condensed"/>
              </a:rPr>
              <a:t>inventory tracking, alerts, and reports. </a:t>
            </a:r>
          </a:p>
        </p:txBody>
      </p:sp>
      <p:sp>
        <p:nvSpPr>
          <p:cNvPr name="TextBox 9" id="9"/>
          <p:cNvSpPr txBox="true"/>
          <p:nvPr/>
        </p:nvSpPr>
        <p:spPr>
          <a:xfrm rot="0">
            <a:off x="1188720" y="3300117"/>
            <a:ext cx="1513799" cy="261899"/>
          </a:xfrm>
          <a:prstGeom prst="rect">
            <a:avLst/>
          </a:prstGeom>
        </p:spPr>
        <p:txBody>
          <a:bodyPr anchor="t" rtlCol="false" tIns="0" lIns="0" bIns="0" rIns="0">
            <a:spAutoFit/>
          </a:bodyPr>
          <a:lstStyle/>
          <a:p>
            <a:pPr algn="l">
              <a:lnSpc>
                <a:spcPts val="2096"/>
              </a:lnSpc>
            </a:pPr>
            <a:r>
              <a:rPr lang="en-US" sz="1497" spc="2">
                <a:solidFill>
                  <a:srgbClr val="4472C4"/>
                </a:solidFill>
                <a:latin typeface="Arimo"/>
                <a:ea typeface="Arimo"/>
                <a:cs typeface="Arimo"/>
                <a:sym typeface="Arimo"/>
              </a:rPr>
              <a:t>9. Key Milestones </a:t>
            </a:r>
          </a:p>
        </p:txBody>
      </p:sp>
      <p:sp>
        <p:nvSpPr>
          <p:cNvPr name="TextBox 10" id="10"/>
          <p:cNvSpPr txBox="true"/>
          <p:nvPr/>
        </p:nvSpPr>
        <p:spPr>
          <a:xfrm rot="0">
            <a:off x="961644" y="3811200"/>
            <a:ext cx="797614" cy="228171"/>
          </a:xfrm>
          <a:prstGeom prst="rect">
            <a:avLst/>
          </a:prstGeom>
        </p:spPr>
        <p:txBody>
          <a:bodyPr anchor="t" rtlCol="false" tIns="0" lIns="0" bIns="0" rIns="0">
            <a:spAutoFit/>
          </a:bodyPr>
          <a:lstStyle/>
          <a:p>
            <a:pPr algn="l">
              <a:lnSpc>
                <a:spcPts val="1844"/>
              </a:lnSpc>
            </a:pPr>
            <a:r>
              <a:rPr lang="en-US" sz="1317" spc="-2">
                <a:solidFill>
                  <a:srgbClr val="000000"/>
                </a:solidFill>
                <a:latin typeface="Open Sans"/>
                <a:ea typeface="Open Sans"/>
                <a:cs typeface="Open Sans"/>
                <a:sym typeface="Open Sans"/>
              </a:rPr>
              <a:t>Milestone </a:t>
            </a:r>
          </a:p>
        </p:txBody>
      </p:sp>
      <p:sp>
        <p:nvSpPr>
          <p:cNvPr name="TextBox 11" id="11"/>
          <p:cNvSpPr txBox="true"/>
          <p:nvPr/>
        </p:nvSpPr>
        <p:spPr>
          <a:xfrm rot="0">
            <a:off x="2394385" y="3811200"/>
            <a:ext cx="941232" cy="228171"/>
          </a:xfrm>
          <a:prstGeom prst="rect">
            <a:avLst/>
          </a:prstGeom>
        </p:spPr>
        <p:txBody>
          <a:bodyPr anchor="t" rtlCol="false" tIns="0" lIns="0" bIns="0" rIns="0">
            <a:spAutoFit/>
          </a:bodyPr>
          <a:lstStyle/>
          <a:p>
            <a:pPr algn="l">
              <a:lnSpc>
                <a:spcPts val="1844"/>
              </a:lnSpc>
            </a:pPr>
            <a:r>
              <a:rPr lang="en-US" sz="1317" spc="-2">
                <a:solidFill>
                  <a:srgbClr val="000000"/>
                </a:solidFill>
                <a:latin typeface="Open Sans"/>
                <a:ea typeface="Open Sans"/>
                <a:cs typeface="Open Sans"/>
                <a:sym typeface="Open Sans"/>
              </a:rPr>
              <a:t>Description </a:t>
            </a:r>
          </a:p>
        </p:txBody>
      </p:sp>
      <p:sp>
        <p:nvSpPr>
          <p:cNvPr name="TextBox 12" id="12"/>
          <p:cNvSpPr txBox="true"/>
          <p:nvPr/>
        </p:nvSpPr>
        <p:spPr>
          <a:xfrm rot="0">
            <a:off x="6222492" y="3736905"/>
            <a:ext cx="602961" cy="2820114"/>
          </a:xfrm>
          <a:prstGeom prst="rect">
            <a:avLst/>
          </a:prstGeom>
        </p:spPr>
        <p:txBody>
          <a:bodyPr anchor="t" rtlCol="false" tIns="0" lIns="0" bIns="0" rIns="0">
            <a:spAutoFit/>
          </a:bodyPr>
          <a:lstStyle/>
          <a:p>
            <a:pPr algn="l">
              <a:lnSpc>
                <a:spcPts val="1751"/>
              </a:lnSpc>
            </a:pPr>
            <a:r>
              <a:rPr lang="en-US" sz="1317" spc="-2">
                <a:solidFill>
                  <a:srgbClr val="000000"/>
                </a:solidFill>
                <a:latin typeface="Open Sans"/>
                <a:ea typeface="Open Sans"/>
                <a:cs typeface="Open Sans"/>
                <a:sym typeface="Open Sans"/>
              </a:rPr>
              <a:t>Date Achiev ed </a:t>
            </a:r>
          </a:p>
          <a:p>
            <a:pPr algn="l">
              <a:lnSpc>
                <a:spcPts val="1740"/>
              </a:lnSpc>
            </a:pPr>
            <a:r>
              <a:rPr lang="en-US" sz="1317" spc="23">
                <a:solidFill>
                  <a:srgbClr val="000000"/>
                </a:solidFill>
                <a:latin typeface="IBM Plex Sans Condensed"/>
                <a:ea typeface="IBM Plex Sans Condensed"/>
                <a:cs typeface="IBM Plex Sans Condensed"/>
                <a:sym typeface="IBM Plex Sans Condensed"/>
              </a:rPr>
              <a:t>26- NOV-25 </a:t>
            </a:r>
          </a:p>
          <a:p>
            <a:pPr algn="l">
              <a:lnSpc>
                <a:spcPts val="3293"/>
              </a:lnSpc>
            </a:pPr>
            <a:r>
              <a:rPr lang="en-US" sz="1317" spc="23">
                <a:solidFill>
                  <a:srgbClr val="000000"/>
                </a:solidFill>
                <a:latin typeface="IBM Plex Sans Condensed"/>
                <a:ea typeface="IBM Plex Sans Condensed"/>
                <a:cs typeface="IBM Plex Sans Condensed"/>
                <a:sym typeface="IBM Plex Sans Condensed"/>
              </a:rPr>
              <a:t>04-DEC-</a:t>
            </a:r>
          </a:p>
          <a:p>
            <a:pPr algn="l">
              <a:lnSpc>
                <a:spcPts val="658"/>
              </a:lnSpc>
            </a:pPr>
            <a:r>
              <a:rPr lang="en-US" sz="1317" spc="25">
                <a:solidFill>
                  <a:srgbClr val="000000"/>
                </a:solidFill>
                <a:latin typeface="IBM Plex Sans Condensed"/>
                <a:ea typeface="IBM Plex Sans Condensed"/>
                <a:cs typeface="IBM Plex Sans Condensed"/>
                <a:sym typeface="IBM Plex Sans Condensed"/>
              </a:rPr>
              <a:t>25 </a:t>
            </a:r>
          </a:p>
          <a:p>
            <a:pPr algn="l">
              <a:lnSpc>
                <a:spcPts val="3293"/>
              </a:lnSpc>
            </a:pPr>
            <a:r>
              <a:rPr lang="en-US" sz="1317" spc="23">
                <a:solidFill>
                  <a:srgbClr val="000000"/>
                </a:solidFill>
                <a:latin typeface="IBM Plex Sans Condensed"/>
                <a:ea typeface="IBM Plex Sans Condensed"/>
                <a:cs typeface="IBM Plex Sans Condensed"/>
                <a:sym typeface="IBM Plex Sans Condensed"/>
              </a:rPr>
              <a:t>19-DEC-</a:t>
            </a:r>
          </a:p>
          <a:p>
            <a:pPr algn="l">
              <a:lnSpc>
                <a:spcPts val="658"/>
              </a:lnSpc>
            </a:pPr>
            <a:r>
              <a:rPr lang="en-US" sz="1317" spc="25">
                <a:solidFill>
                  <a:srgbClr val="000000"/>
                </a:solidFill>
                <a:latin typeface="IBM Plex Sans Condensed"/>
                <a:ea typeface="IBM Plex Sans Condensed"/>
                <a:cs typeface="IBM Plex Sans Condensed"/>
                <a:sym typeface="IBM Plex Sans Condensed"/>
              </a:rPr>
              <a:t>25 </a:t>
            </a:r>
          </a:p>
          <a:p>
            <a:pPr algn="l">
              <a:lnSpc>
                <a:spcPts val="3293"/>
              </a:lnSpc>
            </a:pPr>
            <a:r>
              <a:rPr lang="en-US" sz="1317" spc="23">
                <a:solidFill>
                  <a:srgbClr val="000000"/>
                </a:solidFill>
                <a:latin typeface="IBM Plex Sans Condensed"/>
                <a:ea typeface="IBM Plex Sans Condensed"/>
                <a:cs typeface="IBM Plex Sans Condensed"/>
                <a:sym typeface="IBM Plex Sans Condensed"/>
              </a:rPr>
              <a:t>08-JAN-</a:t>
            </a:r>
          </a:p>
          <a:p>
            <a:pPr algn="l">
              <a:lnSpc>
                <a:spcPts val="658"/>
              </a:lnSpc>
            </a:pPr>
            <a:r>
              <a:rPr lang="en-US" sz="1317" spc="25">
                <a:solidFill>
                  <a:srgbClr val="000000"/>
                </a:solidFill>
                <a:latin typeface="IBM Plex Sans Condensed"/>
                <a:ea typeface="IBM Plex Sans Condensed"/>
                <a:cs typeface="IBM Plex Sans Condensed"/>
                <a:sym typeface="IBM Plex Sans Condensed"/>
              </a:rPr>
              <a:t>26 </a:t>
            </a:r>
          </a:p>
        </p:txBody>
      </p:sp>
      <p:sp>
        <p:nvSpPr>
          <p:cNvPr name="TextBox 13" id="13"/>
          <p:cNvSpPr txBox="true"/>
          <p:nvPr/>
        </p:nvSpPr>
        <p:spPr>
          <a:xfrm rot="0">
            <a:off x="989076" y="6670224"/>
            <a:ext cx="956967" cy="228171"/>
          </a:xfrm>
          <a:prstGeom prst="rect">
            <a:avLst/>
          </a:prstGeom>
        </p:spPr>
        <p:txBody>
          <a:bodyPr anchor="t" rtlCol="false" tIns="0" lIns="0" bIns="0" rIns="0">
            <a:spAutoFit/>
          </a:bodyPr>
          <a:lstStyle/>
          <a:p>
            <a:pPr algn="l">
              <a:lnSpc>
                <a:spcPts val="1844"/>
              </a:lnSpc>
            </a:pPr>
            <a:r>
              <a:rPr lang="en-US" sz="1317" spc="23">
                <a:solidFill>
                  <a:srgbClr val="000000"/>
                </a:solidFill>
                <a:latin typeface="IBM Plex Sans Condensed"/>
                <a:ea typeface="IBM Plex Sans Condensed"/>
                <a:cs typeface="IBM Plex Sans Condensed"/>
                <a:sym typeface="IBM Plex Sans Condensed"/>
              </a:rPr>
              <a:t>Presentation </a:t>
            </a:r>
          </a:p>
        </p:txBody>
      </p:sp>
      <p:sp>
        <p:nvSpPr>
          <p:cNvPr name="TextBox 14" id="14"/>
          <p:cNvSpPr txBox="true"/>
          <p:nvPr/>
        </p:nvSpPr>
        <p:spPr>
          <a:xfrm rot="0">
            <a:off x="961644" y="6132252"/>
            <a:ext cx="1263196" cy="228171"/>
          </a:xfrm>
          <a:prstGeom prst="rect">
            <a:avLst/>
          </a:prstGeom>
        </p:spPr>
        <p:txBody>
          <a:bodyPr anchor="t" rtlCol="false" tIns="0" lIns="0" bIns="0" rIns="0">
            <a:spAutoFit/>
          </a:bodyPr>
          <a:lstStyle/>
          <a:p>
            <a:pPr algn="l">
              <a:lnSpc>
                <a:spcPts val="1844"/>
              </a:lnSpc>
            </a:pPr>
            <a:r>
              <a:rPr lang="en-US" sz="1317" spc="23">
                <a:solidFill>
                  <a:srgbClr val="000000"/>
                </a:solidFill>
                <a:latin typeface="IBM Plex Sans Condensed"/>
                <a:ea typeface="IBM Plex Sans Condensed"/>
                <a:cs typeface="IBM Plex Sans Condensed"/>
                <a:sym typeface="IBM Plex Sans Condensed"/>
              </a:rPr>
              <a:t>Final Submission </a:t>
            </a:r>
          </a:p>
        </p:txBody>
      </p:sp>
      <p:sp>
        <p:nvSpPr>
          <p:cNvPr name="TextBox 15" id="15"/>
          <p:cNvSpPr txBox="true"/>
          <p:nvPr/>
        </p:nvSpPr>
        <p:spPr>
          <a:xfrm rot="0">
            <a:off x="961644" y="4381938"/>
            <a:ext cx="1087498" cy="361521"/>
          </a:xfrm>
          <a:prstGeom prst="rect">
            <a:avLst/>
          </a:prstGeom>
        </p:spPr>
        <p:txBody>
          <a:bodyPr anchor="t" rtlCol="false" tIns="0" lIns="0" bIns="0" rIns="0">
            <a:spAutoFit/>
          </a:bodyPr>
          <a:lstStyle/>
          <a:p>
            <a:pPr algn="l">
              <a:lnSpc>
                <a:spcPts val="3293"/>
              </a:lnSpc>
            </a:pPr>
            <a:r>
              <a:rPr lang="en-US" sz="1317" spc="23">
                <a:solidFill>
                  <a:srgbClr val="000000"/>
                </a:solidFill>
                <a:latin typeface="IBM Plex Sans Condensed"/>
                <a:ea typeface="IBM Plex Sans Condensed"/>
                <a:cs typeface="IBM Plex Sans Condensed"/>
                <a:sym typeface="IBM Plex Sans Condensed"/>
              </a:rPr>
              <a:t>Project Kickoff </a:t>
            </a:r>
          </a:p>
        </p:txBody>
      </p:sp>
      <p:sp>
        <p:nvSpPr>
          <p:cNvPr name="TextBox 16" id="16"/>
          <p:cNvSpPr txBox="true"/>
          <p:nvPr/>
        </p:nvSpPr>
        <p:spPr>
          <a:xfrm rot="0">
            <a:off x="961644" y="4836090"/>
            <a:ext cx="1326623" cy="901017"/>
          </a:xfrm>
          <a:prstGeom prst="rect">
            <a:avLst/>
          </a:prstGeom>
        </p:spPr>
        <p:txBody>
          <a:bodyPr anchor="t" rtlCol="false" tIns="0" lIns="0" bIns="0" rIns="0">
            <a:spAutoFit/>
          </a:bodyPr>
          <a:lstStyle/>
          <a:p>
            <a:pPr algn="l">
              <a:lnSpc>
                <a:spcPts val="3293"/>
              </a:lnSpc>
            </a:pPr>
            <a:r>
              <a:rPr lang="en-US" sz="1317" spc="23">
                <a:solidFill>
                  <a:srgbClr val="000000"/>
                </a:solidFill>
                <a:latin typeface="IBM Plex Sans Condensed"/>
                <a:ea typeface="IBM Plex Sans Condensed"/>
                <a:cs typeface="IBM Plex Sans Condensed"/>
                <a:sym typeface="IBM Plex Sans Condensed"/>
              </a:rPr>
              <a:t>Prototype / First </a:t>
            </a:r>
          </a:p>
          <a:p>
            <a:pPr algn="l">
              <a:lnSpc>
                <a:spcPts val="658"/>
              </a:lnSpc>
            </a:pPr>
            <a:r>
              <a:rPr lang="en-US" sz="1317" spc="23">
                <a:solidFill>
                  <a:srgbClr val="000000"/>
                </a:solidFill>
                <a:latin typeface="IBM Plex Sans Condensed"/>
                <a:ea typeface="IBM Plex Sans Condensed"/>
                <a:cs typeface="IBM Plex Sans Condensed"/>
                <a:sym typeface="IBM Plex Sans Condensed"/>
              </a:rPr>
              <a:t>Draft </a:t>
            </a:r>
          </a:p>
          <a:p>
            <a:pPr algn="l">
              <a:lnSpc>
                <a:spcPts val="3293"/>
              </a:lnSpc>
            </a:pPr>
            <a:r>
              <a:rPr lang="en-US" sz="1317" spc="23">
                <a:solidFill>
                  <a:srgbClr val="000000"/>
                </a:solidFill>
                <a:latin typeface="IBM Plex Sans Condensed"/>
                <a:ea typeface="IBM Plex Sans Condensed"/>
                <a:cs typeface="IBM Plex Sans Condensed"/>
                <a:sym typeface="IBM Plex Sans Condensed"/>
              </a:rPr>
              <a:t>Mid-Term Review </a:t>
            </a:r>
          </a:p>
        </p:txBody>
      </p:sp>
      <p:sp>
        <p:nvSpPr>
          <p:cNvPr name="TextBox 17" id="17"/>
          <p:cNvSpPr txBox="true"/>
          <p:nvPr/>
        </p:nvSpPr>
        <p:spPr>
          <a:xfrm rot="0">
            <a:off x="6259335" y="6536874"/>
            <a:ext cx="569719" cy="361521"/>
          </a:xfrm>
          <a:prstGeom prst="rect">
            <a:avLst/>
          </a:prstGeom>
        </p:spPr>
        <p:txBody>
          <a:bodyPr anchor="t" rtlCol="false" tIns="0" lIns="0" bIns="0" rIns="0">
            <a:spAutoFit/>
          </a:bodyPr>
          <a:lstStyle/>
          <a:p>
            <a:pPr algn="l">
              <a:lnSpc>
                <a:spcPts val="3293"/>
              </a:lnSpc>
            </a:pPr>
            <a:r>
              <a:rPr lang="en-US" sz="1317" spc="23">
                <a:solidFill>
                  <a:srgbClr val="000000"/>
                </a:solidFill>
                <a:latin typeface="IBM Plex Sans Condensed"/>
                <a:ea typeface="IBM Plex Sans Condensed"/>
                <a:cs typeface="IBM Plex Sans Condensed"/>
                <a:sym typeface="IBM Plex Sans Condensed"/>
              </a:rPr>
              <a:t>23-JAN-</a:t>
            </a:r>
          </a:p>
        </p:txBody>
      </p:sp>
      <p:sp>
        <p:nvSpPr>
          <p:cNvPr name="TextBox 18" id="18"/>
          <p:cNvSpPr txBox="true"/>
          <p:nvPr/>
        </p:nvSpPr>
        <p:spPr>
          <a:xfrm rot="0">
            <a:off x="6222492" y="6981120"/>
            <a:ext cx="226504" cy="113871"/>
          </a:xfrm>
          <a:prstGeom prst="rect">
            <a:avLst/>
          </a:prstGeom>
        </p:spPr>
        <p:txBody>
          <a:bodyPr anchor="t" rtlCol="false" tIns="0" lIns="0" bIns="0" rIns="0">
            <a:spAutoFit/>
          </a:bodyPr>
          <a:lstStyle/>
          <a:p>
            <a:pPr algn="l">
              <a:lnSpc>
                <a:spcPts val="658"/>
              </a:lnSpc>
            </a:pPr>
            <a:r>
              <a:rPr lang="en-US" sz="1317" spc="25">
                <a:solidFill>
                  <a:srgbClr val="000000"/>
                </a:solidFill>
                <a:latin typeface="IBM Plex Sans Condensed"/>
                <a:ea typeface="IBM Plex Sans Condensed"/>
                <a:cs typeface="IBM Plex Sans Condensed"/>
                <a:sym typeface="IBM Plex Sans Condensed"/>
              </a:rPr>
              <a:t>26 </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52193" y="223009"/>
            <a:ext cx="6660385" cy="9604753"/>
          </a:xfrm>
          <a:custGeom>
            <a:avLst/>
            <a:gdLst/>
            <a:ahLst/>
            <a:cxnLst/>
            <a:rect r="r" b="b" t="t" l="l"/>
            <a:pathLst>
              <a:path h="9604753" w="6660385">
                <a:moveTo>
                  <a:pt x="0" y="0"/>
                </a:moveTo>
                <a:lnTo>
                  <a:pt x="6660385" y="0"/>
                </a:lnTo>
                <a:lnTo>
                  <a:pt x="6660385" y="9604753"/>
                </a:lnTo>
                <a:lnTo>
                  <a:pt x="0" y="96047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188720" y="823617"/>
            <a:ext cx="2448354" cy="261899"/>
          </a:xfrm>
          <a:prstGeom prst="rect">
            <a:avLst/>
          </a:prstGeom>
        </p:spPr>
        <p:txBody>
          <a:bodyPr anchor="t" rtlCol="false" tIns="0" lIns="0" bIns="0" rIns="0">
            <a:spAutoFit/>
          </a:bodyPr>
          <a:lstStyle/>
          <a:p>
            <a:pPr algn="l">
              <a:lnSpc>
                <a:spcPts val="2096"/>
              </a:lnSpc>
            </a:pPr>
            <a:r>
              <a:rPr lang="en-US" sz="1497" spc="2">
                <a:solidFill>
                  <a:srgbClr val="4472C4"/>
                </a:solidFill>
                <a:latin typeface="Arimo"/>
                <a:ea typeface="Arimo"/>
                <a:cs typeface="Arimo"/>
                <a:sym typeface="Arimo"/>
              </a:rPr>
              <a:t>10. Project Execution Details </a:t>
            </a:r>
          </a:p>
        </p:txBody>
      </p:sp>
      <p:sp>
        <p:nvSpPr>
          <p:cNvPr name="TextBox 4" id="4"/>
          <p:cNvSpPr txBox="true"/>
          <p:nvPr/>
        </p:nvSpPr>
        <p:spPr>
          <a:xfrm rot="0">
            <a:off x="1188720" y="6480562"/>
            <a:ext cx="5532568" cy="774478"/>
          </a:xfrm>
          <a:prstGeom prst="rect">
            <a:avLst/>
          </a:prstGeom>
        </p:spPr>
        <p:txBody>
          <a:bodyPr anchor="t" rtlCol="false" tIns="0" lIns="0" bIns="0" rIns="0">
            <a:spAutoFit/>
          </a:bodyPr>
          <a:lstStyle/>
          <a:p>
            <a:pPr algn="just">
              <a:lnSpc>
                <a:spcPts val="1517"/>
              </a:lnSpc>
            </a:pPr>
            <a:r>
              <a:rPr lang="en-US" sz="1317" spc="-5">
                <a:solidFill>
                  <a:srgbClr val="000000"/>
                </a:solidFill>
                <a:latin typeface="IBM Plex Sans Condensed"/>
                <a:ea typeface="IBM Plex Sans Condensed"/>
                <a:cs typeface="IBM Plex Sans Condensed"/>
                <a:sym typeface="IBM Plex Sans Condensed"/>
              </a:rPr>
              <a:t>Finally, the Reports &amp; Analytics module was implemented by generating reports from existing inventory and transaction data using basic filters. The complete system was tested for functionality and security, followed by documentation and final submission. </a:t>
            </a:r>
          </a:p>
        </p:txBody>
      </p:sp>
      <p:sp>
        <p:nvSpPr>
          <p:cNvPr name="TextBox 5" id="5"/>
          <p:cNvSpPr txBox="true"/>
          <p:nvPr/>
        </p:nvSpPr>
        <p:spPr>
          <a:xfrm rot="0">
            <a:off x="1188720" y="4993138"/>
            <a:ext cx="5534777" cy="964978"/>
          </a:xfrm>
          <a:prstGeom prst="rect">
            <a:avLst/>
          </a:prstGeom>
        </p:spPr>
        <p:txBody>
          <a:bodyPr anchor="t" rtlCol="false" tIns="0" lIns="0" bIns="0" rIns="0">
            <a:spAutoFit/>
          </a:bodyPr>
          <a:lstStyle/>
          <a:p>
            <a:pPr algn="just">
              <a:lnSpc>
                <a:spcPts val="1512"/>
              </a:lnSpc>
            </a:pPr>
            <a:r>
              <a:rPr lang="en-US" sz="1317" spc="3">
                <a:solidFill>
                  <a:srgbClr val="000000"/>
                </a:solidFill>
                <a:latin typeface="IBM Plex Sans Condensed"/>
                <a:ea typeface="IBM Plex Sans Condensed"/>
                <a:cs typeface="IBM Plex Sans Condensed"/>
                <a:sym typeface="IBM Plex Sans Condensed"/>
              </a:rPr>
              <a:t>The Transaction Management module was integrated to record every inventory operation automatically. Transaction handling was implemented using Spring’s @Transactional mechanism to ensure data consistency and rollback in case of failures. The Inventory Alerts module was then added to monitor stock levels and generate alerts whenever inventory fell below the minimum threshold. </a:t>
            </a:r>
          </a:p>
        </p:txBody>
      </p:sp>
      <p:sp>
        <p:nvSpPr>
          <p:cNvPr name="TextBox 6" id="6"/>
          <p:cNvSpPr txBox="true"/>
          <p:nvPr/>
        </p:nvSpPr>
        <p:spPr>
          <a:xfrm rot="0">
            <a:off x="1188720" y="1634242"/>
            <a:ext cx="5533825" cy="1158526"/>
          </a:xfrm>
          <a:prstGeom prst="rect">
            <a:avLst/>
          </a:prstGeom>
        </p:spPr>
        <p:txBody>
          <a:bodyPr anchor="t" rtlCol="false" tIns="0" lIns="0" bIns="0" rIns="0">
            <a:spAutoFit/>
          </a:bodyPr>
          <a:lstStyle/>
          <a:p>
            <a:pPr algn="just">
              <a:lnSpc>
                <a:spcPts val="1512"/>
              </a:lnSpc>
            </a:pPr>
            <a:r>
              <a:rPr lang="en-US" sz="1317" spc="-5">
                <a:solidFill>
                  <a:srgbClr val="000000"/>
                </a:solidFill>
                <a:latin typeface="IBM Plex Sans Condensed"/>
                <a:ea typeface="IBM Plex Sans Condensed"/>
                <a:cs typeface="IBM Plex Sans Condensed"/>
                <a:sym typeface="IBM Plex Sans Condensed"/>
              </a:rPr>
              <a:t>The Inventra – Intelligent Inventory Management System was developed over an 8-week internship period using a structured and modular approach. The project started with requirement analysis and system design, where key issues such as inaccurate stock handling, lack of transaction tracking, and security concerns were identified. Based on these requirements, a layered architecture consisting of Controller, Service, and Repository layers was designed. </a:t>
            </a:r>
          </a:p>
        </p:txBody>
      </p:sp>
      <p:sp>
        <p:nvSpPr>
          <p:cNvPr name="TextBox 7" id="7"/>
          <p:cNvSpPr txBox="true"/>
          <p:nvPr/>
        </p:nvSpPr>
        <p:spPr>
          <a:xfrm rot="0">
            <a:off x="1188720" y="3313690"/>
            <a:ext cx="5534235" cy="1158526"/>
          </a:xfrm>
          <a:prstGeom prst="rect">
            <a:avLst/>
          </a:prstGeom>
        </p:spPr>
        <p:txBody>
          <a:bodyPr anchor="t" rtlCol="false" tIns="0" lIns="0" bIns="0" rIns="0">
            <a:spAutoFit/>
          </a:bodyPr>
          <a:lstStyle/>
          <a:p>
            <a:pPr algn="just">
              <a:lnSpc>
                <a:spcPts val="1516"/>
              </a:lnSpc>
            </a:pPr>
            <a:r>
              <a:rPr lang="en-US" sz="1317" spc="-5">
                <a:solidFill>
                  <a:srgbClr val="000000"/>
                </a:solidFill>
                <a:latin typeface="IBM Plex Sans Condensed"/>
                <a:ea typeface="IBM Plex Sans Condensed"/>
                <a:cs typeface="IBM Plex Sans Condensed"/>
                <a:sym typeface="IBM Plex Sans Condensed"/>
              </a:rPr>
              <a:t>The Authentication module was implemented first using Spring Boot with JWT- based authentication and role-based access control to ensure secure access. Passwords were encrypted using BCrypt for improved security. Next, the Inventory Management module was developed to manage products and perform stock-in and stock-out operations with proper validations to prevent duplicate entries and negative stock values. </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190244" y="1633728"/>
            <a:ext cx="5385816" cy="3140964"/>
            <a:chOff x="0" y="0"/>
            <a:chExt cx="7181088" cy="4187952"/>
          </a:xfrm>
        </p:grpSpPr>
        <p:sp>
          <p:nvSpPr>
            <p:cNvPr name="Freeform 3" id="3"/>
            <p:cNvSpPr/>
            <p:nvPr/>
          </p:nvSpPr>
          <p:spPr>
            <a:xfrm flipH="false" flipV="false" rot="0">
              <a:off x="0" y="0"/>
              <a:ext cx="7181088" cy="4187952"/>
            </a:xfrm>
            <a:custGeom>
              <a:avLst/>
              <a:gdLst/>
              <a:ahLst/>
              <a:cxnLst/>
              <a:rect r="r" b="b" t="t" l="l"/>
              <a:pathLst>
                <a:path h="4187952" w="7181088">
                  <a:moveTo>
                    <a:pt x="0" y="0"/>
                  </a:moveTo>
                  <a:lnTo>
                    <a:pt x="7181088" y="0"/>
                  </a:lnTo>
                  <a:lnTo>
                    <a:pt x="7181088" y="4187952"/>
                  </a:lnTo>
                  <a:lnTo>
                    <a:pt x="0" y="4187952"/>
                  </a:lnTo>
                  <a:lnTo>
                    <a:pt x="0" y="0"/>
                  </a:lnTo>
                  <a:close/>
                </a:path>
              </a:pathLst>
            </a:custGeom>
            <a:blipFill>
              <a:blip r:embed="rId2"/>
              <a:stretch>
                <a:fillRect l="0" t="0" r="0" b="0"/>
              </a:stretch>
            </a:blipFill>
          </p:spPr>
        </p:sp>
      </p:grpSp>
      <p:grpSp>
        <p:nvGrpSpPr>
          <p:cNvPr name="Group 4" id="4"/>
          <p:cNvGrpSpPr/>
          <p:nvPr/>
        </p:nvGrpSpPr>
        <p:grpSpPr>
          <a:xfrm rot="0">
            <a:off x="1190244" y="5715000"/>
            <a:ext cx="5385816" cy="2982468"/>
            <a:chOff x="0" y="0"/>
            <a:chExt cx="7181088" cy="3976624"/>
          </a:xfrm>
        </p:grpSpPr>
        <p:sp>
          <p:nvSpPr>
            <p:cNvPr name="Freeform 5" id="5"/>
            <p:cNvSpPr/>
            <p:nvPr/>
          </p:nvSpPr>
          <p:spPr>
            <a:xfrm flipH="false" flipV="false" rot="0">
              <a:off x="0" y="0"/>
              <a:ext cx="7181088" cy="3976624"/>
            </a:xfrm>
            <a:custGeom>
              <a:avLst/>
              <a:gdLst/>
              <a:ahLst/>
              <a:cxnLst/>
              <a:rect r="r" b="b" t="t" l="l"/>
              <a:pathLst>
                <a:path h="3976624" w="7181088">
                  <a:moveTo>
                    <a:pt x="0" y="0"/>
                  </a:moveTo>
                  <a:lnTo>
                    <a:pt x="7181088" y="0"/>
                  </a:lnTo>
                  <a:lnTo>
                    <a:pt x="7181088" y="3976624"/>
                  </a:lnTo>
                  <a:lnTo>
                    <a:pt x="0" y="3976624"/>
                  </a:lnTo>
                  <a:lnTo>
                    <a:pt x="0" y="0"/>
                  </a:lnTo>
                  <a:close/>
                </a:path>
              </a:pathLst>
            </a:custGeom>
            <a:blipFill>
              <a:blip r:embed="rId3"/>
              <a:stretch>
                <a:fillRect l="0" t="0" r="0" b="0"/>
              </a:stretch>
            </a:blipFill>
          </p:spPr>
        </p:sp>
      </p:grpSp>
      <p:sp>
        <p:nvSpPr>
          <p:cNvPr name="Freeform 6" id="6"/>
          <p:cNvSpPr/>
          <p:nvPr/>
        </p:nvSpPr>
        <p:spPr>
          <a:xfrm flipH="false" flipV="false" rot="0">
            <a:off x="552193" y="223009"/>
            <a:ext cx="6660385" cy="9604753"/>
          </a:xfrm>
          <a:custGeom>
            <a:avLst/>
            <a:gdLst/>
            <a:ahLst/>
            <a:cxnLst/>
            <a:rect r="r" b="b" t="t" l="l"/>
            <a:pathLst>
              <a:path h="9604753" w="6660385">
                <a:moveTo>
                  <a:pt x="0" y="0"/>
                </a:moveTo>
                <a:lnTo>
                  <a:pt x="6660385" y="0"/>
                </a:lnTo>
                <a:lnTo>
                  <a:pt x="6660385" y="9604753"/>
                </a:lnTo>
                <a:lnTo>
                  <a:pt x="0" y="960475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188720" y="823617"/>
            <a:ext cx="2320204" cy="261899"/>
          </a:xfrm>
          <a:prstGeom prst="rect">
            <a:avLst/>
          </a:prstGeom>
        </p:spPr>
        <p:txBody>
          <a:bodyPr anchor="t" rtlCol="false" tIns="0" lIns="0" bIns="0" rIns="0">
            <a:spAutoFit/>
          </a:bodyPr>
          <a:lstStyle/>
          <a:p>
            <a:pPr algn="l">
              <a:lnSpc>
                <a:spcPts val="2096"/>
              </a:lnSpc>
            </a:pPr>
            <a:r>
              <a:rPr lang="en-US" sz="1497" spc="2">
                <a:solidFill>
                  <a:srgbClr val="0070C0"/>
                </a:solidFill>
                <a:latin typeface="Arimo"/>
                <a:ea typeface="Arimo"/>
                <a:cs typeface="Arimo"/>
                <a:sym typeface="Arimo"/>
              </a:rPr>
              <a:t>11. Snapshots / Screenshots </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190244" y="861060"/>
            <a:ext cx="5387340" cy="2921508"/>
            <a:chOff x="0" y="0"/>
            <a:chExt cx="7183120" cy="3895344"/>
          </a:xfrm>
        </p:grpSpPr>
        <p:sp>
          <p:nvSpPr>
            <p:cNvPr name="Freeform 3" id="3"/>
            <p:cNvSpPr/>
            <p:nvPr/>
          </p:nvSpPr>
          <p:spPr>
            <a:xfrm flipH="false" flipV="false" rot="0">
              <a:off x="0" y="0"/>
              <a:ext cx="7183120" cy="3895344"/>
            </a:xfrm>
            <a:custGeom>
              <a:avLst/>
              <a:gdLst/>
              <a:ahLst/>
              <a:cxnLst/>
              <a:rect r="r" b="b" t="t" l="l"/>
              <a:pathLst>
                <a:path h="3895344" w="7183120">
                  <a:moveTo>
                    <a:pt x="0" y="0"/>
                  </a:moveTo>
                  <a:lnTo>
                    <a:pt x="7183120" y="0"/>
                  </a:lnTo>
                  <a:lnTo>
                    <a:pt x="7183120" y="3895344"/>
                  </a:lnTo>
                  <a:lnTo>
                    <a:pt x="0" y="3895344"/>
                  </a:lnTo>
                  <a:lnTo>
                    <a:pt x="0" y="0"/>
                  </a:lnTo>
                  <a:close/>
                </a:path>
              </a:pathLst>
            </a:custGeom>
            <a:blipFill>
              <a:blip r:embed="rId2"/>
              <a:stretch>
                <a:fillRect l="0" t="0" r="0" b="0"/>
              </a:stretch>
            </a:blipFill>
          </p:spPr>
        </p:sp>
      </p:grpSp>
      <p:grpSp>
        <p:nvGrpSpPr>
          <p:cNvPr name="Group 4" id="4"/>
          <p:cNvGrpSpPr/>
          <p:nvPr/>
        </p:nvGrpSpPr>
        <p:grpSpPr>
          <a:xfrm rot="0">
            <a:off x="1190244" y="4724400"/>
            <a:ext cx="5385816" cy="3186684"/>
            <a:chOff x="0" y="0"/>
            <a:chExt cx="7181088" cy="4248912"/>
          </a:xfrm>
        </p:grpSpPr>
        <p:sp>
          <p:nvSpPr>
            <p:cNvPr name="Freeform 5" id="5"/>
            <p:cNvSpPr/>
            <p:nvPr/>
          </p:nvSpPr>
          <p:spPr>
            <a:xfrm flipH="false" flipV="false" rot="0">
              <a:off x="0" y="0"/>
              <a:ext cx="7181088" cy="4248912"/>
            </a:xfrm>
            <a:custGeom>
              <a:avLst/>
              <a:gdLst/>
              <a:ahLst/>
              <a:cxnLst/>
              <a:rect r="r" b="b" t="t" l="l"/>
              <a:pathLst>
                <a:path h="4248912" w="7181088">
                  <a:moveTo>
                    <a:pt x="0" y="0"/>
                  </a:moveTo>
                  <a:lnTo>
                    <a:pt x="7181088" y="0"/>
                  </a:lnTo>
                  <a:lnTo>
                    <a:pt x="7181088" y="4248912"/>
                  </a:lnTo>
                  <a:lnTo>
                    <a:pt x="0" y="4248912"/>
                  </a:lnTo>
                  <a:lnTo>
                    <a:pt x="0" y="0"/>
                  </a:lnTo>
                  <a:close/>
                </a:path>
              </a:pathLst>
            </a:custGeom>
            <a:blipFill>
              <a:blip r:embed="rId3"/>
              <a:stretch>
                <a:fillRect l="0" t="0" r="0" b="0"/>
              </a:stretch>
            </a:blipFill>
          </p:spPr>
        </p:sp>
      </p:grpSp>
      <p:sp>
        <p:nvSpPr>
          <p:cNvPr name="Freeform 6" id="6"/>
          <p:cNvSpPr/>
          <p:nvPr/>
        </p:nvSpPr>
        <p:spPr>
          <a:xfrm flipH="false" flipV="false" rot="0">
            <a:off x="552193" y="223009"/>
            <a:ext cx="6660385" cy="9604753"/>
          </a:xfrm>
          <a:custGeom>
            <a:avLst/>
            <a:gdLst/>
            <a:ahLst/>
            <a:cxnLst/>
            <a:rect r="r" b="b" t="t" l="l"/>
            <a:pathLst>
              <a:path h="9604753" w="6660385">
                <a:moveTo>
                  <a:pt x="0" y="0"/>
                </a:moveTo>
                <a:lnTo>
                  <a:pt x="6660385" y="0"/>
                </a:lnTo>
                <a:lnTo>
                  <a:pt x="6660385" y="9604753"/>
                </a:lnTo>
                <a:lnTo>
                  <a:pt x="0" y="960475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52193" y="223009"/>
            <a:ext cx="6660385" cy="9604753"/>
          </a:xfrm>
          <a:custGeom>
            <a:avLst/>
            <a:gdLst/>
            <a:ahLst/>
            <a:cxnLst/>
            <a:rect r="r" b="b" t="t" l="l"/>
            <a:pathLst>
              <a:path h="9604753" w="6660385">
                <a:moveTo>
                  <a:pt x="0" y="0"/>
                </a:moveTo>
                <a:lnTo>
                  <a:pt x="6660385" y="0"/>
                </a:lnTo>
                <a:lnTo>
                  <a:pt x="6660385" y="9604753"/>
                </a:lnTo>
                <a:lnTo>
                  <a:pt x="0" y="96047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188720" y="814445"/>
            <a:ext cx="323640" cy="300037"/>
          </a:xfrm>
          <a:prstGeom prst="rect">
            <a:avLst/>
          </a:prstGeom>
        </p:spPr>
        <p:txBody>
          <a:bodyPr anchor="t" rtlCol="false" tIns="0" lIns="0" bIns="0" rIns="0">
            <a:spAutoFit/>
          </a:bodyPr>
          <a:lstStyle/>
          <a:p>
            <a:pPr algn="l">
              <a:lnSpc>
                <a:spcPts val="2364"/>
              </a:lnSpc>
            </a:pPr>
            <a:r>
              <a:rPr lang="en-US" sz="1688" spc="5">
                <a:solidFill>
                  <a:srgbClr val="4472C4"/>
                </a:solidFill>
                <a:latin typeface="Arimo"/>
                <a:ea typeface="Arimo"/>
                <a:cs typeface="Arimo"/>
                <a:sym typeface="Arimo"/>
              </a:rPr>
              <a:t>12. </a:t>
            </a:r>
          </a:p>
        </p:txBody>
      </p:sp>
      <p:sp>
        <p:nvSpPr>
          <p:cNvPr name="TextBox 4" id="4"/>
          <p:cNvSpPr txBox="true"/>
          <p:nvPr/>
        </p:nvSpPr>
        <p:spPr>
          <a:xfrm rot="0">
            <a:off x="1188720" y="7059825"/>
            <a:ext cx="1794996" cy="261899"/>
          </a:xfrm>
          <a:prstGeom prst="rect">
            <a:avLst/>
          </a:prstGeom>
        </p:spPr>
        <p:txBody>
          <a:bodyPr anchor="t" rtlCol="false" tIns="0" lIns="0" bIns="0" rIns="0">
            <a:spAutoFit/>
          </a:bodyPr>
          <a:lstStyle/>
          <a:p>
            <a:pPr algn="l">
              <a:lnSpc>
                <a:spcPts val="2096"/>
              </a:lnSpc>
            </a:pPr>
            <a:r>
              <a:rPr lang="en-US" sz="1497" spc="2">
                <a:solidFill>
                  <a:srgbClr val="4472C4"/>
                </a:solidFill>
                <a:latin typeface="Arimo"/>
                <a:ea typeface="Arimo"/>
                <a:cs typeface="Arimo"/>
                <a:sym typeface="Arimo"/>
              </a:rPr>
              <a:t>13. Challenges Faced </a:t>
            </a:r>
          </a:p>
        </p:txBody>
      </p:sp>
      <p:sp>
        <p:nvSpPr>
          <p:cNvPr name="TextBox 5" id="5"/>
          <p:cNvSpPr txBox="true"/>
          <p:nvPr/>
        </p:nvSpPr>
        <p:spPr>
          <a:xfrm rot="0">
            <a:off x="1506007" y="823970"/>
            <a:ext cx="2824467" cy="290512"/>
          </a:xfrm>
          <a:prstGeom prst="rect">
            <a:avLst/>
          </a:prstGeom>
        </p:spPr>
        <p:txBody>
          <a:bodyPr anchor="t" rtlCol="false" tIns="0" lIns="0" bIns="0" rIns="0">
            <a:spAutoFit/>
          </a:bodyPr>
          <a:lstStyle/>
          <a:p>
            <a:pPr algn="l">
              <a:lnSpc>
                <a:spcPts val="2096"/>
              </a:lnSpc>
            </a:pPr>
            <a:r>
              <a:rPr lang="en-US" sz="1497" spc="2">
                <a:solidFill>
                  <a:srgbClr val="4472C4"/>
                </a:solidFill>
                <a:latin typeface="Arimo"/>
                <a:ea typeface="Arimo"/>
                <a:cs typeface="Arimo"/>
                <a:sym typeface="Arimo"/>
              </a:rPr>
              <a:t>Key Learnings &amp; Skills Acquired </a:t>
            </a:r>
          </a:p>
        </p:txBody>
      </p:sp>
      <p:sp>
        <p:nvSpPr>
          <p:cNvPr name="TextBox 6" id="6"/>
          <p:cNvSpPr txBox="true"/>
          <p:nvPr/>
        </p:nvSpPr>
        <p:spPr>
          <a:xfrm rot="0">
            <a:off x="1618488" y="6200146"/>
            <a:ext cx="5094751" cy="388906"/>
          </a:xfrm>
          <a:prstGeom prst="rect">
            <a:avLst/>
          </a:prstGeom>
        </p:spPr>
        <p:txBody>
          <a:bodyPr anchor="t" rtlCol="false" tIns="0" lIns="0" bIns="0" rIns="0">
            <a:spAutoFit/>
          </a:bodyPr>
          <a:lstStyle/>
          <a:p>
            <a:pPr algn="l">
              <a:lnSpc>
                <a:spcPts val="1512"/>
              </a:lnSpc>
            </a:pPr>
            <a:r>
              <a:rPr lang="en-US" sz="1317" spc="-5">
                <a:solidFill>
                  <a:srgbClr val="000000"/>
                </a:solidFill>
                <a:latin typeface="IBM Plex Sans Condensed"/>
                <a:ea typeface="IBM Plex Sans Condensed"/>
                <a:cs typeface="IBM Plex Sans Condensed"/>
                <a:sym typeface="IBM Plex Sans Condensed"/>
              </a:rPr>
              <a:t>Improved coordination, presentation skills, and project documentation habits through weekly milestone reviews. </a:t>
            </a:r>
          </a:p>
        </p:txBody>
      </p:sp>
      <p:sp>
        <p:nvSpPr>
          <p:cNvPr name="TextBox 7" id="7"/>
          <p:cNvSpPr txBox="true"/>
          <p:nvPr/>
        </p:nvSpPr>
        <p:spPr>
          <a:xfrm rot="0">
            <a:off x="1481328" y="5288461"/>
            <a:ext cx="5234969" cy="198120"/>
          </a:xfrm>
          <a:prstGeom prst="rect">
            <a:avLst/>
          </a:prstGeom>
        </p:spPr>
        <p:txBody>
          <a:bodyPr anchor="t" rtlCol="false" tIns="0" lIns="0" bIns="0" rIns="0">
            <a:spAutoFit/>
          </a:bodyPr>
          <a:lstStyle/>
          <a:p>
            <a:pPr algn="l">
              <a:lnSpc>
                <a:spcPts val="1512"/>
              </a:lnSpc>
            </a:pPr>
            <a:r>
              <a:rPr lang="en-US" sz="1317" spc="-5">
                <a:solidFill>
                  <a:srgbClr val="000000"/>
                </a:solidFill>
                <a:latin typeface="IBM Plex Sans Condensed"/>
                <a:ea typeface="IBM Plex Sans Condensed"/>
                <a:cs typeface="IBM Plex Sans Condensed"/>
                <a:sym typeface="IBM Plex Sans Condensed"/>
              </a:rPr>
              <a:t> Learned to write unit/integration tests and optimize system latency, model </a:t>
            </a:r>
          </a:p>
        </p:txBody>
      </p:sp>
      <p:sp>
        <p:nvSpPr>
          <p:cNvPr name="TextBox 8" id="8"/>
          <p:cNvSpPr txBox="true"/>
          <p:nvPr/>
        </p:nvSpPr>
        <p:spPr>
          <a:xfrm rot="0">
            <a:off x="1618488" y="5482342"/>
            <a:ext cx="2242404" cy="196882"/>
          </a:xfrm>
          <a:prstGeom prst="rect">
            <a:avLst/>
          </a:prstGeom>
        </p:spPr>
        <p:txBody>
          <a:bodyPr anchor="t" rtlCol="false" tIns="0" lIns="0" bIns="0" rIns="0">
            <a:spAutoFit/>
          </a:bodyPr>
          <a:lstStyle/>
          <a:p>
            <a:pPr algn="l">
              <a:lnSpc>
                <a:spcPts val="1512"/>
              </a:lnSpc>
            </a:pPr>
            <a:r>
              <a:rPr lang="en-US" sz="1317" spc="-5">
                <a:solidFill>
                  <a:srgbClr val="000000"/>
                </a:solidFill>
                <a:latin typeface="IBM Plex Sans Condensed"/>
                <a:ea typeface="IBM Plex Sans Condensed"/>
                <a:cs typeface="IBM Plex Sans Condensed"/>
                <a:sym typeface="IBM Plex Sans Condensed"/>
              </a:rPr>
              <a:t>accuracy, and API performance. </a:t>
            </a:r>
          </a:p>
        </p:txBody>
      </p:sp>
      <p:sp>
        <p:nvSpPr>
          <p:cNvPr name="TextBox 9" id="9"/>
          <p:cNvSpPr txBox="true"/>
          <p:nvPr/>
        </p:nvSpPr>
        <p:spPr>
          <a:xfrm rot="0">
            <a:off x="1188720" y="1274578"/>
            <a:ext cx="104089" cy="196882"/>
          </a:xfrm>
          <a:prstGeom prst="rect">
            <a:avLst/>
          </a:prstGeom>
        </p:spPr>
        <p:txBody>
          <a:bodyPr anchor="t" rtlCol="false" tIns="0" lIns="0" bIns="0" rIns="0">
            <a:spAutoFit/>
          </a:bodyPr>
          <a:lstStyle/>
          <a:p>
            <a:pPr algn="l">
              <a:lnSpc>
                <a:spcPts val="1512"/>
              </a:lnSpc>
            </a:pPr>
            <a:r>
              <a:rPr lang="en-US" sz="1317" spc="-5">
                <a:solidFill>
                  <a:srgbClr val="000000"/>
                </a:solidFill>
                <a:latin typeface="IBM Plex Sans Condensed"/>
                <a:ea typeface="IBM Plex Sans Condensed"/>
                <a:cs typeface="IBM Plex Sans Condensed"/>
                <a:sym typeface="IBM Plex Sans Condensed"/>
              </a:rPr>
              <a:t>• </a:t>
            </a:r>
          </a:p>
        </p:txBody>
      </p:sp>
      <p:sp>
        <p:nvSpPr>
          <p:cNvPr name="TextBox 10" id="10"/>
          <p:cNvSpPr txBox="true"/>
          <p:nvPr/>
        </p:nvSpPr>
        <p:spPr>
          <a:xfrm rot="0">
            <a:off x="1434636" y="1274578"/>
            <a:ext cx="5281670" cy="196882"/>
          </a:xfrm>
          <a:prstGeom prst="rect">
            <a:avLst/>
          </a:prstGeom>
        </p:spPr>
        <p:txBody>
          <a:bodyPr anchor="t" rtlCol="false" tIns="0" lIns="0" bIns="0" rIns="0">
            <a:spAutoFit/>
          </a:bodyPr>
          <a:lstStyle/>
          <a:p>
            <a:pPr algn="l">
              <a:lnSpc>
                <a:spcPts val="1512"/>
              </a:lnSpc>
            </a:pPr>
            <a:r>
              <a:rPr lang="en-US" sz="1317" spc="-5">
                <a:solidFill>
                  <a:srgbClr val="000000"/>
                </a:solidFill>
                <a:latin typeface="IBM Plex Sans Condensed"/>
                <a:ea typeface="IBM Plex Sans Condensed"/>
                <a:cs typeface="IBM Plex Sans Condensed"/>
                <a:sym typeface="IBM Plex Sans Condensed"/>
              </a:rPr>
              <a:t>Gained understanding of inventory management workflows and system </a:t>
            </a:r>
          </a:p>
        </p:txBody>
      </p:sp>
      <p:sp>
        <p:nvSpPr>
          <p:cNvPr name="TextBox 11" id="11"/>
          <p:cNvSpPr txBox="true"/>
          <p:nvPr/>
        </p:nvSpPr>
        <p:spPr>
          <a:xfrm rot="0">
            <a:off x="1188720" y="1466602"/>
            <a:ext cx="5534978" cy="3290602"/>
          </a:xfrm>
          <a:prstGeom prst="rect">
            <a:avLst/>
          </a:prstGeom>
        </p:spPr>
        <p:txBody>
          <a:bodyPr anchor="t" rtlCol="false" tIns="0" lIns="0" bIns="0" rIns="0">
            <a:spAutoFit/>
          </a:bodyPr>
          <a:lstStyle/>
          <a:p>
            <a:pPr algn="l">
              <a:lnSpc>
                <a:spcPts val="1512"/>
              </a:lnSpc>
            </a:pPr>
            <a:r>
              <a:rPr lang="en-US" sz="1317" spc="-5">
                <a:solidFill>
                  <a:srgbClr val="000000"/>
                </a:solidFill>
                <a:latin typeface="IBM Plex Sans Condensed"/>
                <a:ea typeface="IBM Plex Sans Condensed"/>
                <a:cs typeface="IBM Plex Sans Condensed"/>
                <a:sym typeface="IBM Plex Sans Condensed"/>
              </a:rPr>
              <a:t>requirements. </a:t>
            </a:r>
          </a:p>
          <a:p>
            <a:pPr algn="l">
              <a:lnSpc>
                <a:spcPts val="3293"/>
              </a:lnSpc>
            </a:pPr>
            <a:r>
              <a:rPr lang="en-US" sz="1317" spc="7">
                <a:solidFill>
                  <a:srgbClr val="000000"/>
                </a:solidFill>
                <a:latin typeface="IBM Plex Sans Condensed"/>
                <a:ea typeface="IBM Plex Sans Condensed"/>
                <a:cs typeface="IBM Plex Sans Condensed"/>
                <a:sym typeface="IBM Plex Sans Condensed"/>
              </a:rPr>
              <a:t>• Developed backend applications using Java and Spring Boot with RESTful </a:t>
            </a:r>
          </a:p>
          <a:p>
            <a:pPr algn="l">
              <a:lnSpc>
                <a:spcPts val="658"/>
              </a:lnSpc>
            </a:pPr>
            <a:r>
              <a:rPr lang="en-US" sz="1317" spc="-5">
                <a:solidFill>
                  <a:srgbClr val="000000"/>
                </a:solidFill>
                <a:latin typeface="IBM Plex Sans Condensed"/>
                <a:ea typeface="IBM Plex Sans Condensed"/>
                <a:cs typeface="IBM Plex Sans Condensed"/>
                <a:sym typeface="IBM Plex Sans Condensed"/>
              </a:rPr>
              <a:t>APIs. </a:t>
            </a:r>
          </a:p>
          <a:p>
            <a:pPr algn="l">
              <a:lnSpc>
                <a:spcPts val="3293"/>
              </a:lnSpc>
            </a:pPr>
            <a:r>
              <a:rPr lang="en-US" sz="1317" spc="7">
                <a:solidFill>
                  <a:srgbClr val="000000"/>
                </a:solidFill>
                <a:latin typeface="IBM Plex Sans Condensed"/>
                <a:ea typeface="IBM Plex Sans Condensed"/>
                <a:cs typeface="IBM Plex Sans Condensed"/>
                <a:sym typeface="IBM Plex Sans Condensed"/>
              </a:rPr>
              <a:t>• Learned secure authentication using JWT, BCrypt, and Role-Based Access </a:t>
            </a:r>
          </a:p>
          <a:p>
            <a:pPr algn="l">
              <a:lnSpc>
                <a:spcPts val="658"/>
              </a:lnSpc>
            </a:pPr>
            <a:r>
              <a:rPr lang="en-US" sz="1317" spc="-5">
                <a:solidFill>
                  <a:srgbClr val="000000"/>
                </a:solidFill>
                <a:latin typeface="IBM Plex Sans Condensed"/>
                <a:ea typeface="IBM Plex Sans Condensed"/>
                <a:cs typeface="IBM Plex Sans Condensed"/>
                <a:sym typeface="IBM Plex Sans Condensed"/>
              </a:rPr>
              <a:t>Control (RBAC). </a:t>
            </a:r>
          </a:p>
          <a:p>
            <a:pPr algn="l">
              <a:lnSpc>
                <a:spcPts val="3293"/>
              </a:lnSpc>
            </a:pPr>
            <a:r>
              <a:rPr lang="en-US" sz="1317" spc="-5">
                <a:solidFill>
                  <a:srgbClr val="000000"/>
                </a:solidFill>
                <a:latin typeface="IBM Plex Sans Condensed"/>
                <a:ea typeface="IBM Plex Sans Condensed"/>
                <a:cs typeface="IBM Plex Sans Condensed"/>
                <a:sym typeface="IBM Plex Sans Condensed"/>
              </a:rPr>
              <a:t>• Built frontend interfaces using HTML, CSS, and JavaScript. </a:t>
            </a:r>
          </a:p>
          <a:p>
            <a:pPr algn="l">
              <a:lnSpc>
                <a:spcPts val="2371"/>
              </a:lnSpc>
            </a:pPr>
            <a:r>
              <a:rPr lang="en-US" sz="1317" spc="7">
                <a:solidFill>
                  <a:srgbClr val="000000"/>
                </a:solidFill>
                <a:latin typeface="IBM Plex Sans Condensed"/>
                <a:ea typeface="IBM Plex Sans Condensed"/>
                <a:cs typeface="IBM Plex Sans Condensed"/>
                <a:sym typeface="IBM Plex Sans Condensed"/>
              </a:rPr>
              <a:t>• Designed and managed MySQL databases with CRUD operations and data </a:t>
            </a:r>
          </a:p>
          <a:p>
            <a:pPr algn="l">
              <a:lnSpc>
                <a:spcPts val="658"/>
              </a:lnSpc>
            </a:pPr>
            <a:r>
              <a:rPr lang="en-US" sz="1317" spc="-5">
                <a:solidFill>
                  <a:srgbClr val="000000"/>
                </a:solidFill>
                <a:latin typeface="IBM Plex Sans Condensed"/>
                <a:ea typeface="IBM Plex Sans Condensed"/>
                <a:cs typeface="IBM Plex Sans Condensed"/>
                <a:sym typeface="IBM Plex Sans Condensed"/>
              </a:rPr>
              <a:t>integrity. </a:t>
            </a:r>
          </a:p>
          <a:p>
            <a:pPr algn="l">
              <a:lnSpc>
                <a:spcPts val="3293"/>
              </a:lnSpc>
            </a:pPr>
            <a:r>
              <a:rPr lang="en-US" sz="1317" spc="-5">
                <a:solidFill>
                  <a:srgbClr val="000000"/>
                </a:solidFill>
                <a:latin typeface="IBM Plex Sans Condensed"/>
                <a:ea typeface="IBM Plex Sans Condensed"/>
                <a:cs typeface="IBM Plex Sans Condensed"/>
                <a:sym typeface="IBM Plex Sans Condensed"/>
              </a:rPr>
              <a:t>•Implemented inventory alert mechanisms and business logic. </a:t>
            </a:r>
          </a:p>
          <a:p>
            <a:pPr algn="l">
              <a:lnSpc>
                <a:spcPts val="2371"/>
              </a:lnSpc>
            </a:pPr>
            <a:r>
              <a:rPr lang="en-US" sz="1317" spc="-5">
                <a:solidFill>
                  <a:srgbClr val="000000"/>
                </a:solidFill>
                <a:latin typeface="IBM Plex Sans Condensed"/>
                <a:ea typeface="IBM Plex Sans Condensed"/>
                <a:cs typeface="IBM Plex Sans Condensed"/>
                <a:sym typeface="IBM Plex Sans Condensed"/>
              </a:rPr>
              <a:t>•Generated inventory reports to support data-driven decisions. </a:t>
            </a:r>
          </a:p>
          <a:p>
            <a:pPr algn="l">
              <a:lnSpc>
                <a:spcPts val="3293"/>
              </a:lnSpc>
            </a:pPr>
            <a:r>
              <a:rPr lang="en-US" sz="1317" spc="-5">
                <a:solidFill>
                  <a:srgbClr val="000000"/>
                </a:solidFill>
                <a:latin typeface="IBM Plex Sans Condensed"/>
                <a:ea typeface="IBM Plex Sans Condensed"/>
                <a:cs typeface="IBM Plex Sans Condensed"/>
                <a:sym typeface="IBM Plex Sans Condensed"/>
              </a:rPr>
              <a:t>•Improved testing, debugging, teamwork, and project documentation skills. </a:t>
            </a:r>
          </a:p>
        </p:txBody>
      </p:sp>
      <p:sp>
        <p:nvSpPr>
          <p:cNvPr name="TextBox 12" id="12"/>
          <p:cNvSpPr txBox="true"/>
          <p:nvPr/>
        </p:nvSpPr>
        <p:spPr>
          <a:xfrm rot="0">
            <a:off x="1403604" y="7342394"/>
            <a:ext cx="4197058" cy="344672"/>
          </a:xfrm>
          <a:prstGeom prst="rect">
            <a:avLst/>
          </a:prstGeom>
        </p:spPr>
        <p:txBody>
          <a:bodyPr anchor="t" rtlCol="false" tIns="0" lIns="0" bIns="0" rIns="0">
            <a:spAutoFit/>
          </a:bodyPr>
          <a:lstStyle/>
          <a:p>
            <a:pPr algn="l">
              <a:lnSpc>
                <a:spcPts val="3012"/>
              </a:lnSpc>
            </a:pPr>
            <a:r>
              <a:rPr lang="en-US" sz="1317" spc="-5">
                <a:solidFill>
                  <a:srgbClr val="7030A0"/>
                </a:solidFill>
                <a:latin typeface="IBM Plex Sans Condensed"/>
                <a:ea typeface="IBM Plex Sans Condensed"/>
                <a:cs typeface="IBM Plex Sans Condensed"/>
                <a:sym typeface="IBM Plex Sans Condensed"/>
              </a:rPr>
              <a:t> Challenge 1: Database Design for Inventory Management </a:t>
            </a:r>
          </a:p>
        </p:txBody>
      </p:sp>
      <p:sp>
        <p:nvSpPr>
          <p:cNvPr name="TextBox 13" id="13"/>
          <p:cNvSpPr txBox="true"/>
          <p:nvPr/>
        </p:nvSpPr>
        <p:spPr>
          <a:xfrm rot="0">
            <a:off x="1188720" y="7736719"/>
            <a:ext cx="5534920" cy="1301401"/>
          </a:xfrm>
          <a:prstGeom prst="rect">
            <a:avLst/>
          </a:prstGeom>
        </p:spPr>
        <p:txBody>
          <a:bodyPr anchor="t" rtlCol="false" tIns="0" lIns="0" bIns="0" rIns="0">
            <a:spAutoFit/>
          </a:bodyPr>
          <a:lstStyle/>
          <a:p>
            <a:pPr algn="just">
              <a:lnSpc>
                <a:spcPts val="3012"/>
              </a:lnSpc>
            </a:pPr>
            <a:r>
              <a:rPr lang="en-US" sz="1317" spc="-5">
                <a:solidFill>
                  <a:srgbClr val="000000"/>
                </a:solidFill>
                <a:latin typeface="IBM Plex Sans Condensed"/>
                <a:ea typeface="IBM Plex Sans Condensed"/>
                <a:cs typeface="IBM Plex Sans Condensed"/>
                <a:sym typeface="IBM Plex Sans Condensed"/>
              </a:rPr>
              <a:t>Problem: Designing a database schema that efficiently handles products, </a:t>
            </a:r>
          </a:p>
          <a:p>
            <a:pPr algn="just">
              <a:lnSpc>
                <a:spcPts val="658"/>
              </a:lnSpc>
            </a:pPr>
            <a:r>
              <a:rPr lang="en-US" sz="1317" spc="-5">
                <a:solidFill>
                  <a:srgbClr val="000000"/>
                </a:solidFill>
                <a:latin typeface="IBM Plex Sans Condensed"/>
                <a:ea typeface="IBM Plex Sans Condensed"/>
                <a:cs typeface="IBM Plex Sans Condensed"/>
                <a:sym typeface="IBM Plex Sans Condensed"/>
              </a:rPr>
              <a:t>inventory levels, users, and alerts without data redundancy. </a:t>
            </a:r>
          </a:p>
          <a:p>
            <a:pPr algn="just">
              <a:lnSpc>
                <a:spcPts val="3293"/>
              </a:lnSpc>
            </a:pPr>
            <a:r>
              <a:rPr lang="en-US" sz="1317">
                <a:solidFill>
                  <a:srgbClr val="000000"/>
                </a:solidFill>
                <a:latin typeface="IBM Plex Sans Condensed"/>
                <a:ea typeface="IBM Plex Sans Condensed"/>
                <a:cs typeface="IBM Plex Sans Condensed"/>
                <a:sym typeface="IBM Plex Sans Condensed"/>
              </a:rPr>
              <a:t>Solution: Implemented a well-structured MySQL relational schema with proper </a:t>
            </a:r>
          </a:p>
          <a:p>
            <a:pPr algn="just">
              <a:lnSpc>
                <a:spcPts val="658"/>
              </a:lnSpc>
            </a:pPr>
            <a:r>
              <a:rPr lang="en-US" sz="1317" spc="-5">
                <a:solidFill>
                  <a:srgbClr val="000000"/>
                </a:solidFill>
                <a:latin typeface="IBM Plex Sans Condensed"/>
                <a:ea typeface="IBM Plex Sans Condensed"/>
                <a:cs typeface="IBM Plex Sans Condensed"/>
                <a:sym typeface="IBM Plex Sans Condensed"/>
              </a:rPr>
              <a:t>normalization and foreign key relationships to ensure data integrity and </a:t>
            </a:r>
          </a:p>
          <a:p>
            <a:pPr algn="just">
              <a:lnSpc>
                <a:spcPts val="2365"/>
              </a:lnSpc>
            </a:pPr>
            <a:r>
              <a:rPr lang="en-US" sz="1317" spc="-3">
                <a:solidFill>
                  <a:srgbClr val="000000"/>
                </a:solidFill>
                <a:latin typeface="IBM Plex Sans Condensed"/>
                <a:ea typeface="IBM Plex Sans Condensed"/>
                <a:cs typeface="IBM Plex Sans Condensed"/>
                <a:sym typeface="IBM Plex Sans Condensed"/>
              </a:rPr>
              <a:t>scalability </a:t>
            </a:r>
          </a:p>
        </p:txBody>
      </p:sp>
      <p:sp>
        <p:nvSpPr>
          <p:cNvPr name="TextBox 14" id="14"/>
          <p:cNvSpPr txBox="true"/>
          <p:nvPr/>
        </p:nvSpPr>
        <p:spPr>
          <a:xfrm rot="0">
            <a:off x="1403604" y="5230892"/>
            <a:ext cx="78324" cy="249422"/>
          </a:xfrm>
          <a:prstGeom prst="rect">
            <a:avLst/>
          </a:prstGeom>
        </p:spPr>
        <p:txBody>
          <a:bodyPr anchor="t" rtlCol="false" tIns="0" lIns="0" bIns="0" rIns="0">
            <a:spAutoFit/>
          </a:bodyPr>
          <a:lstStyle/>
          <a:p>
            <a:pPr algn="l">
              <a:lnSpc>
                <a:spcPts val="1844"/>
              </a:lnSpc>
            </a:pPr>
            <a:r>
              <a:rPr lang="en-US" sz="1317">
                <a:solidFill>
                  <a:srgbClr val="000000"/>
                </a:solidFill>
                <a:latin typeface="Arimo"/>
                <a:ea typeface="Arimo"/>
                <a:cs typeface="Arimo"/>
                <a:sym typeface="Arimo"/>
              </a:rPr>
              <a:t></a:t>
            </a:r>
          </a:p>
        </p:txBody>
      </p:sp>
      <p:sp>
        <p:nvSpPr>
          <p:cNvPr name="TextBox 15" id="15"/>
          <p:cNvSpPr txBox="true"/>
          <p:nvPr/>
        </p:nvSpPr>
        <p:spPr>
          <a:xfrm rot="0">
            <a:off x="1403604" y="6183992"/>
            <a:ext cx="66942" cy="201054"/>
          </a:xfrm>
          <a:prstGeom prst="rect">
            <a:avLst/>
          </a:prstGeom>
        </p:spPr>
        <p:txBody>
          <a:bodyPr anchor="t" rtlCol="false" tIns="0" lIns="0" bIns="0" rIns="0">
            <a:spAutoFit/>
          </a:bodyPr>
          <a:lstStyle/>
          <a:p>
            <a:pPr algn="l">
              <a:lnSpc>
                <a:spcPts val="1576"/>
              </a:lnSpc>
            </a:pPr>
            <a:r>
              <a:rPr lang="en-US" sz="1125">
                <a:solidFill>
                  <a:srgbClr val="000000"/>
                </a:solidFill>
                <a:latin typeface="Arimo"/>
                <a:ea typeface="Arimo"/>
                <a:cs typeface="Arimo"/>
                <a:sym typeface="Arimo"/>
              </a:rPr>
              <a:t></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52193" y="223009"/>
            <a:ext cx="6660385" cy="9604753"/>
          </a:xfrm>
          <a:custGeom>
            <a:avLst/>
            <a:gdLst/>
            <a:ahLst/>
            <a:cxnLst/>
            <a:rect r="r" b="b" t="t" l="l"/>
            <a:pathLst>
              <a:path h="9604753" w="6660385">
                <a:moveTo>
                  <a:pt x="0" y="0"/>
                </a:moveTo>
                <a:lnTo>
                  <a:pt x="6660385" y="0"/>
                </a:lnTo>
                <a:lnTo>
                  <a:pt x="6660385" y="9604753"/>
                </a:lnTo>
                <a:lnTo>
                  <a:pt x="0" y="96047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403604" y="911114"/>
            <a:ext cx="3965153" cy="344672"/>
          </a:xfrm>
          <a:prstGeom prst="rect">
            <a:avLst/>
          </a:prstGeom>
        </p:spPr>
        <p:txBody>
          <a:bodyPr anchor="t" rtlCol="false" tIns="0" lIns="0" bIns="0" rIns="0">
            <a:spAutoFit/>
          </a:bodyPr>
          <a:lstStyle/>
          <a:p>
            <a:pPr algn="l">
              <a:lnSpc>
                <a:spcPts val="3024"/>
              </a:lnSpc>
            </a:pPr>
            <a:r>
              <a:rPr lang="en-US" sz="1317" spc="-5">
                <a:solidFill>
                  <a:srgbClr val="7030A0"/>
                </a:solidFill>
                <a:latin typeface="IBM Plex Sans Condensed"/>
                <a:ea typeface="IBM Plex Sans Condensed"/>
                <a:cs typeface="IBM Plex Sans Condensed"/>
                <a:sym typeface="IBM Plex Sans Condensed"/>
              </a:rPr>
              <a:t> Challenge 2: Secure Authentication and Authorization </a:t>
            </a:r>
          </a:p>
        </p:txBody>
      </p:sp>
      <p:sp>
        <p:nvSpPr>
          <p:cNvPr name="TextBox 4" id="4"/>
          <p:cNvSpPr txBox="true"/>
          <p:nvPr/>
        </p:nvSpPr>
        <p:spPr>
          <a:xfrm rot="0">
            <a:off x="1188720" y="1306963"/>
            <a:ext cx="5534482" cy="1301401"/>
          </a:xfrm>
          <a:prstGeom prst="rect">
            <a:avLst/>
          </a:prstGeom>
        </p:spPr>
        <p:txBody>
          <a:bodyPr anchor="t" rtlCol="false" tIns="0" lIns="0" bIns="0" rIns="0">
            <a:spAutoFit/>
          </a:bodyPr>
          <a:lstStyle/>
          <a:p>
            <a:pPr algn="just">
              <a:lnSpc>
                <a:spcPts val="3024"/>
              </a:lnSpc>
            </a:pPr>
            <a:r>
              <a:rPr lang="en-US" sz="1317">
                <a:solidFill>
                  <a:srgbClr val="000000"/>
                </a:solidFill>
                <a:latin typeface="IBM Plex Sans Condensed"/>
                <a:ea typeface="IBM Plex Sans Condensed"/>
                <a:cs typeface="IBM Plex Sans Condensed"/>
                <a:sym typeface="IBM Plex Sans Condensed"/>
              </a:rPr>
              <a:t>Problem: Ensuring secure access while managing different user roles within the </a:t>
            </a:r>
          </a:p>
          <a:p>
            <a:pPr algn="just">
              <a:lnSpc>
                <a:spcPts val="658"/>
              </a:lnSpc>
            </a:pPr>
            <a:r>
              <a:rPr lang="en-US" sz="1317" spc="-5">
                <a:solidFill>
                  <a:srgbClr val="000000"/>
                </a:solidFill>
                <a:latin typeface="IBM Plex Sans Condensed"/>
                <a:ea typeface="IBM Plex Sans Condensed"/>
                <a:cs typeface="IBM Plex Sans Condensed"/>
                <a:sym typeface="IBM Plex Sans Condensed"/>
              </a:rPr>
              <a:t>system. </a:t>
            </a:r>
          </a:p>
          <a:p>
            <a:pPr algn="just">
              <a:lnSpc>
                <a:spcPts val="3293"/>
              </a:lnSpc>
            </a:pPr>
            <a:r>
              <a:rPr lang="en-US" sz="1317" spc="-5">
                <a:solidFill>
                  <a:srgbClr val="000000"/>
                </a:solidFill>
                <a:latin typeface="IBM Plex Sans Condensed"/>
                <a:ea typeface="IBM Plex Sans Condensed"/>
                <a:cs typeface="IBM Plex Sans Condensed"/>
                <a:sym typeface="IBM Plex Sans Condensed"/>
              </a:rPr>
              <a:t>Solution: Implemented JWT-based authentication with BCrypt password </a:t>
            </a:r>
          </a:p>
          <a:p>
            <a:pPr algn="just">
              <a:lnSpc>
                <a:spcPts val="658"/>
              </a:lnSpc>
            </a:pPr>
            <a:r>
              <a:rPr lang="en-US" sz="1317" spc="-5">
                <a:solidFill>
                  <a:srgbClr val="000000"/>
                </a:solidFill>
                <a:latin typeface="IBM Plex Sans Condensed"/>
                <a:ea typeface="IBM Plex Sans Condensed"/>
                <a:cs typeface="IBM Plex Sans Condensed"/>
                <a:sym typeface="IBM Plex Sans Condensed"/>
              </a:rPr>
              <a:t>encryption and Role-Based Access Control (RBAC) to manage permissions </a:t>
            </a:r>
          </a:p>
          <a:p>
            <a:pPr algn="just">
              <a:lnSpc>
                <a:spcPts val="2389"/>
              </a:lnSpc>
            </a:pPr>
            <a:r>
              <a:rPr lang="en-US" sz="1317" spc="-5">
                <a:solidFill>
                  <a:srgbClr val="000000"/>
                </a:solidFill>
                <a:latin typeface="IBM Plex Sans Condensed"/>
                <a:ea typeface="IBM Plex Sans Condensed"/>
                <a:cs typeface="IBM Plex Sans Condensed"/>
                <a:sym typeface="IBM Plex Sans Condensed"/>
              </a:rPr>
              <a:t>securely. </a:t>
            </a:r>
          </a:p>
        </p:txBody>
      </p:sp>
      <p:sp>
        <p:nvSpPr>
          <p:cNvPr name="TextBox 5" id="5"/>
          <p:cNvSpPr txBox="true"/>
          <p:nvPr/>
        </p:nvSpPr>
        <p:spPr>
          <a:xfrm rot="0">
            <a:off x="1403604" y="2632472"/>
            <a:ext cx="3296688" cy="363722"/>
          </a:xfrm>
          <a:prstGeom prst="rect">
            <a:avLst/>
          </a:prstGeom>
        </p:spPr>
        <p:txBody>
          <a:bodyPr anchor="t" rtlCol="false" tIns="0" lIns="0" bIns="0" rIns="0">
            <a:spAutoFit/>
          </a:bodyPr>
          <a:lstStyle/>
          <a:p>
            <a:pPr algn="l">
              <a:lnSpc>
                <a:spcPts val="3293"/>
              </a:lnSpc>
            </a:pPr>
            <a:r>
              <a:rPr lang="en-US" sz="1317" spc="-5">
                <a:solidFill>
                  <a:srgbClr val="7030A0"/>
                </a:solidFill>
                <a:latin typeface="IBM Plex Sans Condensed"/>
                <a:ea typeface="IBM Plex Sans Condensed"/>
                <a:cs typeface="IBM Plex Sans Condensed"/>
                <a:sym typeface="IBM Plex Sans Condensed"/>
              </a:rPr>
              <a:t> Challenge 3: Real-Time Inventory Accuracy </a:t>
            </a:r>
          </a:p>
        </p:txBody>
      </p:sp>
      <p:sp>
        <p:nvSpPr>
          <p:cNvPr name="TextBox 6" id="6"/>
          <p:cNvSpPr txBox="true"/>
          <p:nvPr/>
        </p:nvSpPr>
        <p:spPr>
          <a:xfrm rot="0">
            <a:off x="1188720" y="3077470"/>
            <a:ext cx="5533577" cy="1079278"/>
          </a:xfrm>
          <a:prstGeom prst="rect">
            <a:avLst/>
          </a:prstGeom>
        </p:spPr>
        <p:txBody>
          <a:bodyPr anchor="t" rtlCol="false" tIns="0" lIns="0" bIns="0" rIns="0">
            <a:spAutoFit/>
          </a:bodyPr>
          <a:lstStyle/>
          <a:p>
            <a:pPr algn="l">
              <a:lnSpc>
                <a:spcPts val="2779"/>
              </a:lnSpc>
            </a:pPr>
            <a:r>
              <a:rPr lang="en-US" sz="1317" spc="13">
                <a:solidFill>
                  <a:srgbClr val="000000"/>
                </a:solidFill>
                <a:latin typeface="IBM Plex Sans Condensed"/>
                <a:ea typeface="IBM Plex Sans Condensed"/>
                <a:cs typeface="IBM Plex Sans Condensed"/>
                <a:sym typeface="IBM Plex Sans Condensed"/>
              </a:rPr>
              <a:t>Problem: Maintaining accurate stock levels during frequent inventory updates </a:t>
            </a:r>
          </a:p>
          <a:p>
            <a:pPr algn="l">
              <a:lnSpc>
                <a:spcPts val="658"/>
              </a:lnSpc>
            </a:pPr>
            <a:r>
              <a:rPr lang="en-US" sz="1317" spc="-5">
                <a:solidFill>
                  <a:srgbClr val="000000"/>
                </a:solidFill>
                <a:latin typeface="IBM Plex Sans Condensed"/>
                <a:ea typeface="IBM Plex Sans Condensed"/>
                <a:cs typeface="IBM Plex Sans Condensed"/>
                <a:sym typeface="IBM Plex Sans Condensed"/>
              </a:rPr>
              <a:t>and transactions. </a:t>
            </a:r>
          </a:p>
          <a:p>
            <a:pPr algn="l">
              <a:lnSpc>
                <a:spcPts val="3293"/>
              </a:lnSpc>
            </a:pPr>
            <a:r>
              <a:rPr lang="en-US" sz="1317" spc="-5">
                <a:solidFill>
                  <a:srgbClr val="000000"/>
                </a:solidFill>
                <a:latin typeface="IBM Plex Sans Condensed"/>
                <a:ea typeface="IBM Plex Sans Condensed"/>
                <a:cs typeface="IBM Plex Sans Condensed"/>
                <a:sym typeface="IBM Plex Sans Condensed"/>
              </a:rPr>
              <a:t>Solution: Centralized inventory update logic in the Spring Boot service layer and </a:t>
            </a:r>
          </a:p>
          <a:p>
            <a:pPr algn="l">
              <a:lnSpc>
                <a:spcPts val="658"/>
              </a:lnSpc>
            </a:pPr>
            <a:r>
              <a:rPr lang="en-US" sz="1317" spc="-5">
                <a:solidFill>
                  <a:srgbClr val="000000"/>
                </a:solidFill>
                <a:latin typeface="IBM Plex Sans Condensed"/>
                <a:ea typeface="IBM Plex Sans Condensed"/>
                <a:cs typeface="IBM Plex Sans Condensed"/>
                <a:sym typeface="IBM Plex Sans Condensed"/>
              </a:rPr>
              <a:t>ensured synchronized database operations through validated API workflows. </a:t>
            </a:r>
          </a:p>
        </p:txBody>
      </p:sp>
      <p:sp>
        <p:nvSpPr>
          <p:cNvPr name="TextBox 7" id="7"/>
          <p:cNvSpPr txBox="true"/>
          <p:nvPr/>
        </p:nvSpPr>
        <p:spPr>
          <a:xfrm rot="0">
            <a:off x="1403604" y="4182380"/>
            <a:ext cx="3257007" cy="363722"/>
          </a:xfrm>
          <a:prstGeom prst="rect">
            <a:avLst/>
          </a:prstGeom>
        </p:spPr>
        <p:txBody>
          <a:bodyPr anchor="t" rtlCol="false" tIns="0" lIns="0" bIns="0" rIns="0">
            <a:spAutoFit/>
          </a:bodyPr>
          <a:lstStyle/>
          <a:p>
            <a:pPr algn="l">
              <a:lnSpc>
                <a:spcPts val="3293"/>
              </a:lnSpc>
            </a:pPr>
            <a:r>
              <a:rPr lang="en-US" sz="1317" spc="-5">
                <a:solidFill>
                  <a:srgbClr val="7030A0"/>
                </a:solidFill>
                <a:latin typeface="IBM Plex Sans Condensed"/>
                <a:ea typeface="IBM Plex Sans Condensed"/>
                <a:cs typeface="IBM Plex Sans Condensed"/>
                <a:sym typeface="IBM Plex Sans Condensed"/>
              </a:rPr>
              <a:t> Challenge 4: Frontend–Backend Integration </a:t>
            </a:r>
          </a:p>
        </p:txBody>
      </p:sp>
      <p:sp>
        <p:nvSpPr>
          <p:cNvPr name="TextBox 8" id="8"/>
          <p:cNvSpPr txBox="true"/>
          <p:nvPr/>
        </p:nvSpPr>
        <p:spPr>
          <a:xfrm rot="0">
            <a:off x="1188720" y="4625854"/>
            <a:ext cx="5533834" cy="1080802"/>
          </a:xfrm>
          <a:prstGeom prst="rect">
            <a:avLst/>
          </a:prstGeom>
        </p:spPr>
        <p:txBody>
          <a:bodyPr anchor="t" rtlCol="false" tIns="0" lIns="0" bIns="0" rIns="0">
            <a:spAutoFit/>
          </a:bodyPr>
          <a:lstStyle/>
          <a:p>
            <a:pPr algn="l">
              <a:lnSpc>
                <a:spcPts val="2754"/>
              </a:lnSpc>
            </a:pPr>
            <a:r>
              <a:rPr lang="en-US" sz="1317" spc="-5">
                <a:solidFill>
                  <a:srgbClr val="000000"/>
                </a:solidFill>
                <a:latin typeface="IBM Plex Sans Condensed"/>
                <a:ea typeface="IBM Plex Sans Condensed"/>
                <a:cs typeface="IBM Plex Sans Condensed"/>
                <a:sym typeface="IBM Plex Sans Condensed"/>
              </a:rPr>
              <a:t>Problem: Ensuring seamless data exchange between frontend interfaces and </a:t>
            </a:r>
          </a:p>
          <a:p>
            <a:pPr algn="l">
              <a:lnSpc>
                <a:spcPts val="658"/>
              </a:lnSpc>
            </a:pPr>
            <a:r>
              <a:rPr lang="en-US" sz="1317" spc="-5">
                <a:solidFill>
                  <a:srgbClr val="000000"/>
                </a:solidFill>
                <a:latin typeface="IBM Plex Sans Condensed"/>
                <a:ea typeface="IBM Plex Sans Condensed"/>
                <a:cs typeface="IBM Plex Sans Condensed"/>
                <a:sym typeface="IBM Plex Sans Condensed"/>
              </a:rPr>
              <a:t>backend REST APIs. </a:t>
            </a:r>
          </a:p>
          <a:p>
            <a:pPr algn="l">
              <a:lnSpc>
                <a:spcPts val="3293"/>
              </a:lnSpc>
            </a:pPr>
            <a:r>
              <a:rPr lang="en-US" sz="1317" spc="-2">
                <a:solidFill>
                  <a:srgbClr val="000000"/>
                </a:solidFill>
                <a:latin typeface="IBM Plex Sans Condensed"/>
                <a:ea typeface="IBM Plex Sans Condensed"/>
                <a:cs typeface="IBM Plex Sans Condensed"/>
                <a:sym typeface="IBM Plex Sans Condensed"/>
              </a:rPr>
              <a:t>Solution: Standardized API responses and thoroughly tested endpoints to ensure </a:t>
            </a:r>
          </a:p>
          <a:p>
            <a:pPr algn="l">
              <a:lnSpc>
                <a:spcPts val="658"/>
              </a:lnSpc>
            </a:pPr>
            <a:r>
              <a:rPr lang="en-US" sz="1317" spc="-5">
                <a:solidFill>
                  <a:srgbClr val="000000"/>
                </a:solidFill>
                <a:latin typeface="IBM Plex Sans Condensed"/>
                <a:ea typeface="IBM Plex Sans Condensed"/>
                <a:cs typeface="IBM Plex Sans Condensed"/>
                <a:sym typeface="IBM Plex Sans Condensed"/>
              </a:rPr>
              <a:t>smooth integration and consistent data rendering. </a:t>
            </a:r>
          </a:p>
        </p:txBody>
      </p:sp>
      <p:sp>
        <p:nvSpPr>
          <p:cNvPr name="TextBox 9" id="9"/>
          <p:cNvSpPr txBox="true"/>
          <p:nvPr/>
        </p:nvSpPr>
        <p:spPr>
          <a:xfrm rot="0">
            <a:off x="1188720" y="6446682"/>
            <a:ext cx="5534882" cy="1898694"/>
          </a:xfrm>
          <a:prstGeom prst="rect">
            <a:avLst/>
          </a:prstGeom>
        </p:spPr>
        <p:txBody>
          <a:bodyPr anchor="t" rtlCol="false" tIns="0" lIns="0" bIns="0" rIns="0">
            <a:spAutoFit/>
          </a:bodyPr>
          <a:lstStyle/>
          <a:p>
            <a:pPr algn="just">
              <a:lnSpc>
                <a:spcPts val="1290"/>
              </a:lnSpc>
            </a:pPr>
            <a:r>
              <a:rPr lang="en-US" sz="1125">
                <a:solidFill>
                  <a:srgbClr val="000000"/>
                </a:solidFill>
                <a:latin typeface="Arimo"/>
                <a:ea typeface="Arimo"/>
                <a:cs typeface="Arimo"/>
                <a:sym typeface="Arimo"/>
              </a:rPr>
              <a:t> </a:t>
            </a:r>
          </a:p>
          <a:p>
            <a:pPr algn="just">
              <a:lnSpc>
                <a:spcPts val="1509"/>
              </a:lnSpc>
            </a:pPr>
            <a:r>
              <a:rPr lang="en-US" sz="1317">
                <a:solidFill>
                  <a:srgbClr val="000000"/>
                </a:solidFill>
                <a:latin typeface="IBM Plex Sans Condensed"/>
                <a:ea typeface="IBM Plex Sans Condensed"/>
                <a:cs typeface="IBM Plex Sans Condensed"/>
                <a:sym typeface="IBM Plex Sans Condensed"/>
              </a:rPr>
              <a:t>Working on the Inventra project helped us gain practical exposure to real-world inventory management systems and strengthened our backend development skills. The project improved our understanding of Spring Boot, REST APIs, and database integration while enhancing our teamwork and coordination. Mentor guidance and collaborative problem-solving played a key role in successfully implementing secure authentication and inventory alert mechanisms. This project enhanced our confidence in building scalable, secure, and industry- relevant applications. </a:t>
            </a:r>
          </a:p>
        </p:txBody>
      </p:sp>
      <p:sp>
        <p:nvSpPr>
          <p:cNvPr name="TextBox 10" id="10"/>
          <p:cNvSpPr txBox="true"/>
          <p:nvPr/>
        </p:nvSpPr>
        <p:spPr>
          <a:xfrm rot="0">
            <a:off x="1188720" y="6023505"/>
            <a:ext cx="2320500" cy="261899"/>
          </a:xfrm>
          <a:prstGeom prst="rect">
            <a:avLst/>
          </a:prstGeom>
        </p:spPr>
        <p:txBody>
          <a:bodyPr anchor="t" rtlCol="false" tIns="0" lIns="0" bIns="0" rIns="0">
            <a:spAutoFit/>
          </a:bodyPr>
          <a:lstStyle/>
          <a:p>
            <a:pPr algn="l">
              <a:lnSpc>
                <a:spcPts val="2096"/>
              </a:lnSpc>
            </a:pPr>
            <a:r>
              <a:rPr lang="en-US" sz="1497" spc="2">
                <a:solidFill>
                  <a:srgbClr val="4472C4"/>
                </a:solidFill>
                <a:latin typeface="Arimo"/>
                <a:ea typeface="Arimo"/>
                <a:cs typeface="Arimo"/>
                <a:sym typeface="Arimo"/>
              </a:rPr>
              <a:t>14. Testimonials from team </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52193" y="223009"/>
            <a:ext cx="6660385" cy="9604753"/>
          </a:xfrm>
          <a:custGeom>
            <a:avLst/>
            <a:gdLst/>
            <a:ahLst/>
            <a:cxnLst/>
            <a:rect r="r" b="b" t="t" l="l"/>
            <a:pathLst>
              <a:path h="9604753" w="6660385">
                <a:moveTo>
                  <a:pt x="0" y="0"/>
                </a:moveTo>
                <a:lnTo>
                  <a:pt x="6660385" y="0"/>
                </a:lnTo>
                <a:lnTo>
                  <a:pt x="6660385" y="9604753"/>
                </a:lnTo>
                <a:lnTo>
                  <a:pt x="0" y="96047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188720" y="823617"/>
            <a:ext cx="5534968" cy="1582845"/>
          </a:xfrm>
          <a:prstGeom prst="rect">
            <a:avLst/>
          </a:prstGeom>
        </p:spPr>
        <p:txBody>
          <a:bodyPr anchor="t" rtlCol="false" tIns="0" lIns="0" bIns="0" rIns="0">
            <a:spAutoFit/>
          </a:bodyPr>
          <a:lstStyle/>
          <a:p>
            <a:pPr algn="just">
              <a:lnSpc>
                <a:spcPts val="2096"/>
              </a:lnSpc>
            </a:pPr>
            <a:r>
              <a:rPr lang="en-US" sz="1497" spc="1">
                <a:solidFill>
                  <a:srgbClr val="4472C4"/>
                </a:solidFill>
                <a:latin typeface="Arimo"/>
                <a:ea typeface="Arimo"/>
                <a:cs typeface="Arimo"/>
                <a:sym typeface="Arimo"/>
              </a:rPr>
              <a:t>15. Conclusion </a:t>
            </a:r>
          </a:p>
          <a:p>
            <a:pPr algn="just">
              <a:lnSpc>
                <a:spcPts val="1512"/>
              </a:lnSpc>
            </a:pPr>
            <a:r>
              <a:rPr lang="en-US" sz="1317" spc="-5">
                <a:solidFill>
                  <a:srgbClr val="000000"/>
                </a:solidFill>
                <a:latin typeface="IBM Plex Sans Condensed"/>
                <a:ea typeface="IBM Plex Sans Condensed"/>
                <a:cs typeface="IBM Plex Sans Condensed"/>
                <a:sym typeface="IBM Plex Sans Condensed"/>
              </a:rPr>
              <a:t>The Inventra – Intelligent Inventory Management System successfully </a:t>
            </a:r>
          </a:p>
          <a:p>
            <a:pPr algn="just">
              <a:lnSpc>
                <a:spcPts val="1512"/>
              </a:lnSpc>
            </a:pPr>
            <a:r>
              <a:rPr lang="en-US" sz="1317">
                <a:solidFill>
                  <a:srgbClr val="000000"/>
                </a:solidFill>
                <a:latin typeface="Arimo"/>
                <a:ea typeface="Arimo"/>
                <a:cs typeface="Arimo"/>
                <a:sym typeface="Arimo"/>
              </a:rPr>
              <a:t>demonstrates the implementation of a secure, modular, and scalable inventory </a:t>
            </a:r>
          </a:p>
          <a:p>
            <a:pPr algn="just">
              <a:lnSpc>
                <a:spcPts val="1512"/>
              </a:lnSpc>
            </a:pPr>
            <a:r>
              <a:rPr lang="en-US" sz="1317" spc="15">
                <a:solidFill>
                  <a:srgbClr val="000000"/>
                </a:solidFill>
                <a:latin typeface="IBM Plex Sans Condensed"/>
                <a:ea typeface="IBM Plex Sans Condensed"/>
                <a:cs typeface="IBM Plex Sans Condensed"/>
                <a:sym typeface="IBM Plex Sans Condensed"/>
              </a:rPr>
              <a:t>solution. The project provided hands-on experience in backend development, database design, security implementation, and team collaboration. This internship significantly enhanced our understanding of real-world software development practices and industry-level application design. </a:t>
            </a:r>
          </a:p>
        </p:txBody>
      </p:sp>
      <p:sp>
        <p:nvSpPr>
          <p:cNvPr name="TextBox 4" id="4"/>
          <p:cNvSpPr txBox="true"/>
          <p:nvPr/>
        </p:nvSpPr>
        <p:spPr>
          <a:xfrm rot="0">
            <a:off x="1188720" y="2862729"/>
            <a:ext cx="5534549" cy="1198788"/>
          </a:xfrm>
          <a:prstGeom prst="rect">
            <a:avLst/>
          </a:prstGeom>
        </p:spPr>
        <p:txBody>
          <a:bodyPr anchor="t" rtlCol="false" tIns="0" lIns="0" bIns="0" rIns="0">
            <a:spAutoFit/>
          </a:bodyPr>
          <a:lstStyle/>
          <a:p>
            <a:pPr algn="just">
              <a:lnSpc>
                <a:spcPts val="2096"/>
              </a:lnSpc>
            </a:pPr>
            <a:r>
              <a:rPr lang="en-US" sz="1497" spc="2">
                <a:solidFill>
                  <a:srgbClr val="4472C4"/>
                </a:solidFill>
                <a:latin typeface="Arimo"/>
                <a:ea typeface="Arimo"/>
                <a:cs typeface="Arimo"/>
                <a:sym typeface="Arimo"/>
              </a:rPr>
              <a:t>16. Acknowledgement </a:t>
            </a:r>
          </a:p>
          <a:p>
            <a:pPr algn="just">
              <a:lnSpc>
                <a:spcPts val="1512"/>
              </a:lnSpc>
            </a:pPr>
            <a:r>
              <a:rPr lang="en-US" sz="1317" spc="-5">
                <a:solidFill>
                  <a:srgbClr val="000000"/>
                </a:solidFill>
                <a:latin typeface="IBM Plex Sans Condensed"/>
                <a:ea typeface="IBM Plex Sans Condensed"/>
                <a:cs typeface="IBM Plex Sans Condensed"/>
                <a:sym typeface="IBM Plex Sans Condensed"/>
              </a:rPr>
              <a:t>We sincerely thank Infosys Springboard and our mentor for providing guidance, resources, and continuous support throughout the internship. Their encouragement and feedback helped us successfully complete this project and gain valuable practical experience. </a:t>
            </a:r>
          </a:p>
        </p:txBody>
      </p:sp>
      <p:sp>
        <p:nvSpPr>
          <p:cNvPr name="TextBox 5" id="5"/>
          <p:cNvSpPr txBox="true"/>
          <p:nvPr/>
        </p:nvSpPr>
        <p:spPr>
          <a:xfrm rot="0">
            <a:off x="2564673" y="4617196"/>
            <a:ext cx="2262997" cy="155534"/>
          </a:xfrm>
          <a:prstGeom prst="rect">
            <a:avLst/>
          </a:prstGeom>
        </p:spPr>
        <p:txBody>
          <a:bodyPr anchor="t" rtlCol="false" tIns="0" lIns="0" bIns="0" rIns="0">
            <a:spAutoFit/>
          </a:bodyPr>
          <a:lstStyle/>
          <a:p>
            <a:pPr algn="l">
              <a:lnSpc>
                <a:spcPts val="1308"/>
              </a:lnSpc>
            </a:pPr>
            <a:r>
              <a:rPr lang="en-US" sz="934" spc="3">
                <a:solidFill>
                  <a:srgbClr val="000000"/>
                </a:solidFill>
                <a:latin typeface="Noto Sans Thai SemiCondensed Light"/>
                <a:ea typeface="Noto Sans Thai SemiCondensed Light"/>
                <a:cs typeface="Noto Sans Thai SemiCondensed Light"/>
                <a:sym typeface="Noto Sans Thai SemiCondensed Light"/>
              </a:rPr>
              <a:t>------------------------------------------------------------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DAHAobodnyc</dc:identifier>
  <dcterms:modified xsi:type="dcterms:W3CDTF">2011-08-01T06:04:30Z</dcterms:modified>
  <cp:revision>1</cp:revision>
  <dc:title>Project  Completion Report Team 2 .pdf</dc:title>
</cp:coreProperties>
</file>